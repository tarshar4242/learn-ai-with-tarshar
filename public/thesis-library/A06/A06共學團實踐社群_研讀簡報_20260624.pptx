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各位好，我今天要報告的這篇，是Mayo Clinic四位教育工作者寫的一篇觀點文，講他們怎麼用一個「極簡」的實踐社群，把生成式AI這件事在組織裡推起來。我會先說為什麼我特別挑這篇，因為它其實就是我論文裡那個「AI共學團」的真實版本。這篇是Q1的SSCI期刊，等級夠硬，可是要先講清楚，作者自己說它是opinion piece，也就是觀點分享、不是實證研究，所以我把它定位成實務佐證跟研究動機的背書，不會拿它當方法論的主幹。這次研讀我讀的是全文，慢慢來，比較快，我們一頁一頁看。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說我為什麼從這篇開始。我的論文核心，是想看AI的語意向量技術，能不能即時把大家零碎的、講不清楚的隱性知識接住，還能用自然語言查得到。但要研究這件事，我得先有一個真實的場域，裡面真的有人在分享know-how、真的有知識在傳。這篇就給了我一個現成的樣子。他們在Mayo Clinic辦的這個社群，本質就是我說的AI共學團，同一群人定期碰面，把自己怎麼用AI的經驗講出來，傳給其他人。而且它幫我解決一個常被誤會的點：我說的傳承不是長輩傳晚輩那種，而是同儕之間互相傳，這篇就是同儕互傳的活例子。所以這一場，我會一邊看他們怎麼做，一邊對照我自己的研究要怎麼接上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他們的核心主張。他們說，生成式AI變得太快，沒有人能完全跟上，那怎麼辦？他們的答案是：與其等公司派一個專責部門、編一大筆預算，不如先用一個極簡的社群動起來。極簡的意思就是行政負擔壓到最低，靠分工跟現成工具，四個人就把這件事撐起來了。我覺得這對我很有用，因為我的共學團規模也不大，兩個單位各五到十人，辦六場雙週工作坊。我要的不是辦得多熱鬧，而是真的有人持續來、真的有人把自己的AI使用心得講出來、傳出去。慢慢來，比較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這頁先把名詞講清楚，什麼叫實踐社群，英文是community of practice，簡稱CoP。它的定義其實很直白：一群有共同興趣的人，定期碰面、交流想法，一起解決問題，慢慢把對某個主題的理解一起加深。它的核心精神是社會性學習，也就是知識不是一個人關起門讀出來的，而是在一群人互動裡長出來、傳開來的。為什麼這特別適合學AI？因為AI沒有說明書，又一直在改版，一個人自己摸很容易卡住、很容易放棄，一群人一起摸就快多了。這裡我要提醒自己一件事：這個概念其實跟我論文的理論骨架，野中郁次郎的SECI知識螺旋，講的是同一件事，知識在人跟人的互動裡被創造、被傳遞。等一下深講頁我會把這條線接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他們實際怎麼運作。先看人，他們是四個人組成引導團隊，分工是自然長出來的，不是硬分配的。而且四個人都會帶討論，所以哪天有人臨時來不了，活動照常跑，這個設計很聰明。再來是氣氛，他們刻意讓活動保持非正式，因為太正式大家就不敢開口，非正式反而讓人敢提問、敢分享。運作節奏是每個月開一次籌備會，內容會跟著AI工具的變化一直調整。我特別注意到一點：他們的內容是逐月變深的，因為參與者懂得愈多，討論自然愈深，等於社群自己把內容養起來了。這正是我希望我的共學團也能出現的狀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我覺得最實用的一頁，因為它同時講成功跟踩坑，等於把經驗直接送到我面前。先講成果，第一個是出席人數整年穩定往上，而且主要是靠口耳相傳，每一場都有新人，代表口碑是真的。第二個是成員會把學到的東西變成自己的案例再帶回來分享，這就是知識在社群裡循環。再講挑戰，最值得記的是分組討論室造成流失，他們本來想用分組讓討論更深，結果一分組反而有人離開，因為分組會讓人焦慮，或當下不方便開麥克風。他們的對策是乾脆改成全體一起，可以講話、可以打字、也可以只是聽，用彈性換來低壓力。這個坑我一定要記住，因為我的工作坊也會分知識提供者跟尋求者，我得想清楚怎麼讓大家自在，不要一安排互動就把人嚇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這張就是他們的Figure 1，一年下來每個月的出席人數。重點不是某一個月的精確數字，而是那條成長的趨勢，整體是往上爬的，中間有起伏，但長期是成長的。我要特別誠實講一句，這張圖是我依照原文長條的高度判讀後重新乾淨重繪的，走勢跟原圖一致，但確切數字還是以原文為準，我不會假裝那是我自己的實驗數據。這張圖對我的意義是：它證明了一個輕量的社群，只要內容對、氣氛對，是真的能靠口碑長大的。這給我信心，我的共學團規模雖小，但只要做對，它會自己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整場最關鍵的一頁，因為它同時把我的理論根跟我的研究缺口都接起來。先看左邊。當社群成員把自己怎麼用AI的經驗講出來，這個動作在學理上就叫externalization，外化，把講不清楚的隱性知識變成講得出來的東西。別人聽了再帶回來分享，知識就在同儕間流動。這整套就是野中的SECI螺旋。所以這篇對我來說不是離題，它是我理論的真實演出。再看右邊，這是它沒做到、剛好留給我做的。它是觀點文，沒有去驗證知識到底有沒有真的被接住。而且它的知識大多留在人腦、當場的對話、跟靜態錄影裡，事後你想找某個人講過的某句技巧，只能翻錄影、靠記憶，沒辦法用自然語言查。我的補法就是：把這些經驗外化進NotebookLM，用語意向量讓它變得查得到，再用深度訪談跟主題分析去驗證。這就是我站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這頁是他們的Figure 2，他們把成功歸成四個動作，我用四張卡呈現。第一，組一個小型的志願領導團隊，人少但分攤得開。第二，維持非正式，每個月碰一次面規劃就好，不要搞得太複雜。第三，善用既有工具，他們就用Teams、email、SharePoint，不另外買系統。第四，跟組織裡其他AI教育的行動互補，不搶舞台，反而把影響力放大。我要講的是，這四點看起來很樸素，但它正是這套模式能持續一年的關鍵，輕，才撐得久。我的共學團也照這個精神：團隊小、流程輕、用現成的NotebookLM，不另起爐灶。差別是我多加一層，我要把大家講出來的東西存進語意向量知識庫，讓它事後查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把整場收束成三塊，就是我站在哪、要補什麼。第一塊，理論根。我踩的是SECI知識螺旋加上實踐社群，知識在人跟人的互動裡被外化、被分享、被再創造。這裡我會再強調一次，我講的傳承是廣義的，包含同儕互傳，不是只有長輩傳晚輩，這點我論文開頭會講清楚。第二塊，這篇的貢獻跟缺口。它的貢獻是證明了輕量社群真的能讓同儕知識流動。它的缺口是它沒有實證，而且知識事後很難查、不能語意搜尋。第三塊，我的切入。我辦六場雙週工作坊，大家輪流當知識提供者跟尋求者，提供者把經驗用固定四欄存進NotebookLM，尋求者去比較語意向量搜尋跟傳統關鍵字搜尋哪個好用，最後我用深度訪談加主題分析來驗證，問卷只當備用。這就是我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我給自己、也給老師的交代，把這篇的身分證攤開來看。完整出處在這、DOI在這。公信力等級我查過SCImago，它是Q1的SSCI期刊，在教育領域算前段，等級是夠硬的。但我要很誠實地標一個提醒：作者自己說這是opinion piece，觀點文，不是實證研究。所以我不會拿它當方法論的主幹，我把它定位成實務佐證、概念來源，還有研究動機的背書。我的方法主幹還是靠那批真正做實證的文獻。研讀範圍我這次讀的是全文，沒有跳節。把這些講清楚，引用的時候才站得住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最後一頁，是給聽眾的延伸。如果有人想看逐段的中英對照，包含Table 1跟兩張圖的完整版本，可以開這份文件。我會放三種方式：一個可以點的連結、一段完整網址可以手打或複製、還有一個QRcode可以用手機掃。三種並存，是為了萬一現場連結點不開，還有備援。這頁的連結跟QRcode我會在把中英對照檔上傳Google Drive之後補上。報告到這裡，謝謝大家。慢慢來，比較快。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5A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548640"/>
            <a:ext cx="146304" cy="14630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48640"/>
            <a:ext cx="146304" cy="146304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548640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3300" b="1" i="0">
                <a:solidFill>
                  <a:srgbClr val="FFFFFF"/>
                </a:solidFill>
                <a:latin typeface="Noto Sans CJK TC"/>
                <a:ea typeface="Noto Sans CJK TC"/>
                <a:cs typeface="Noto Sans CJK TC"/>
              </a:rPr>
              <a:t>在生成式AI時代，用最輕量的方式長出一個學習社群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A9BFD4"/>
                </a:solidFill>
                <a:latin typeface="Calibri"/>
                <a:cs typeface="Calibri"/>
              </a:rPr>
              <a:t>Generative AI education: Building a community of practice at Mayo 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E4ECF2"/>
                </a:solidFill>
                <a:latin typeface="Noto Sans CJK TC"/>
                <a:ea typeface="Noto Sans CJK TC"/>
                <a:cs typeface="Noto Sans CJK TC"/>
              </a:rPr>
              <a:t>本研讀涵蓋全文（摘要、第1至5節、作者群與利益衝突聲明、參考文獻）。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10515600" cy="1417320"/>
          </a:xfrm>
          <a:prstGeom prst="roundRect">
            <a:avLst/>
          </a:prstGeom>
          <a:solidFill>
            <a:srgbClr val="334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937760"/>
            <a:ext cx="9966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  <a:cs typeface="Calibri"/>
              </a:rPr>
              <a:t>Schultz, K. E., Van Erp, N. L., Minter, C. J., &amp; Nelson, K. B. (2026). Innovations in Education and Teaching International, 63(3), 882–887.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A9BFD4"/>
                </a:solidFill>
                <a:latin typeface="Noto Sans CJK TC"/>
                <a:ea typeface="Noto Sans CJK TC"/>
                <a:cs typeface="Noto Sans CJK TC"/>
              </a:rPr>
              <a:t>DOI：10.1080/14703297.2025.2507299　｜　公信力等級：Q1期刊（SSCI，Education類）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4ECF2"/>
                </a:solidFill>
                <a:latin typeface="Noto Sans CJK TC"/>
                <a:ea typeface="Noto Sans CJK TC"/>
                <a:cs typeface="Noto Sans CJK TC"/>
              </a:rPr>
              <a:t>研讀者：羅靜娟｜學號714630117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77724" cy="77724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6948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Calibri"/>
                <a:cs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導讀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為什麼我從這篇開始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8F84"/>
                </a:solidFill>
                <a:latin typeface="Calibri"/>
                <a:cs typeface="Calibri"/>
              </a:rPr>
              <a:t>Why this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0881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1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這篇不是談技術，而是談一群人怎麼「一起學AI」，這正好是我論文的研究場域。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我的研究要找一個真實存在、真的有知識在流動的場域，這篇提供了現成的真實版本。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他們的社群＝我的「AI共學團」：同一群人定期聚會，把各自的AI使用經驗講出來、傳給彼此。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它幫我把「傳承」講清楚：不限長輩傳晚輩，而是同儕之間互相把know-how傳開來。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看完它做對與做錯的地方，我就知道自己的工作坊該怎麼設計，又能補上它沒做到的事。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74920"/>
            <a:ext cx="10908792" cy="1325880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5330952"/>
            <a:ext cx="128016" cy="128016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5221224"/>
            <a:ext cx="10085832" cy="1033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1">
                <a:solidFill>
                  <a:srgbClr val="6E8FAE"/>
                </a:solidFill>
                <a:latin typeface="Calibri"/>
                <a:cs typeface="Calibri"/>
              </a:rPr>
              <a:t>This opinion piece explains why we believe the answer lies in the community.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這篇觀點文要說明的是：為什麼我們相信答案就在「社群」裡。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77724" cy="77724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6948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Calibri"/>
                <a:cs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核心主張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核心主張：用「極簡」的方式辦社群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8F84"/>
                </a:solidFill>
                <a:latin typeface="Calibri"/>
                <a:cs typeface="Calibri"/>
              </a:rPr>
              <a:t>A minimalist community-of-practice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0881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1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作者主張：面對變太快的生成式AI，與其等專人專部門，不如先用最輕量的社群動起來。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極簡的意思是：行政負擔壓到最低，不靠龐大資源也能持續運作。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重點不是辦得多盛大，而是營造一個能討論、能提問、能協作的環境。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他們用這套辦了滿一年，而且最特別的是「建立與維繫竟然如此容易」。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對我的啟發：我的共學團也走輕量路線，6場雙週工作坊，不求大，求真的有人來、有知識真的在傳。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74920"/>
            <a:ext cx="10908792" cy="1325880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5330952"/>
            <a:ext cx="128016" cy="128016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5221224"/>
            <a:ext cx="10085832" cy="1033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1">
                <a:solidFill>
                  <a:srgbClr val="6E8FAE"/>
                </a:solidFill>
                <a:latin typeface="Calibri"/>
                <a:cs typeface="Calibri"/>
              </a:rPr>
              <a:t>…a minimalist community of practice model to promote continuous social learning… while minimising administrative burden.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用一種極簡的實踐社群模式促進持續的社會性學習，同時把行政負擔降到最低。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77724" cy="77724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6948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Calibri"/>
                <a:cs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基本概念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什麼是「實踐社群」（CoP）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8F84"/>
                </a:solidFill>
                <a:latin typeface="Calibri"/>
                <a:cs typeface="Calibri"/>
              </a:rPr>
              <a:t>What is a community of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0881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1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定義：一群有共同興趣的人，定期聚會、交流想法，一起解決問題、深化對某主題的集體理解。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核心精神：在組織裡透過「社會性學習」促進知識分享，這個精神到今天依然成立。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為什麼適合學AI：AI沒有使用手冊、又一直在變，一個人摸很慢，一群人一起摸快很多。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社群不只是一起學，更會「親手形塑學習的內容」，大家想學什麼就往那裡長。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連到我的理論根：這跟野中郁次郎的SECI知識螺旋是同一件事，知識在人與人互動中被創造、被傳遞。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74920"/>
            <a:ext cx="10908792" cy="1325880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5330952"/>
            <a:ext cx="128016" cy="128016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5221224"/>
            <a:ext cx="10085832" cy="1033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1">
                <a:solidFill>
                  <a:srgbClr val="6E8FAE"/>
                </a:solidFill>
                <a:latin typeface="Calibri"/>
                <a:cs typeface="Calibri"/>
              </a:rPr>
              <a:t>A CoP is a group with a common interest that meets periodically to share ideas and engage in a rich dialogue to problem-solve…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實踐社群是一群有共同興趣的人，定期聚會分享想法、進行豐富對話來解決問題。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77724" cy="77724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6948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Calibri"/>
                <a:cs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運作方式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他們怎麼把社群運作起來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8F84"/>
                </a:solidFill>
                <a:latin typeface="Calibri"/>
                <a:cs typeface="Calibri"/>
              </a:rPr>
              <a:t>How the community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08813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1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四人引導團隊，分工自然形成；四人都會帶討論，有人請假也不影響。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刻意保持「非正式」的氛圍，讓大家敢提問、敢分享、敢建立連結。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每月一次籌備會，隨AI工具與主題的變化彈性調整內容。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內容逐月變深：參與者懂得愈多，討論就愈細緻，社群自己把內容養起來。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常向成員徵詢回饋，讓大家對自己的學習有「共同擁有」的感覺，也用來排主題優先順序。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74920"/>
            <a:ext cx="10908792" cy="1325880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5330952"/>
            <a:ext cx="128016" cy="128016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5221224"/>
            <a:ext cx="10085832" cy="1033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1">
                <a:solidFill>
                  <a:srgbClr val="6E8FAE"/>
                </a:solidFill>
                <a:latin typeface="Calibri"/>
                <a:cs typeface="Calibri"/>
              </a:rPr>
              <a:t>We intentionally keep our CoP sessions informal to create a space where attendees feel comfortable asking questions…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我們刻意讓活動維持非正式，營造一個讓大家自在提問、分享、建立連結的空間。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77724" cy="77724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6948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Calibri"/>
                <a:cs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成果與挑戰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做對了什麼，又踩到什麼坑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8F84"/>
                </a:solidFill>
                <a:latin typeface="Calibri"/>
                <a:cs typeface="Calibri"/>
              </a:rPr>
              <a:t>Successes and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8813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1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成果一：出席人數整年穩定成長，主要靠口耳相傳，每場都有新人加入。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成果二：成員會把前幾場學到的，變成自己的使用案例，再帶回社群分享。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挑戰一：分組討論室造成流失，一分組就有人離開，因為分組讓人焦慮、或不方便開麥。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對策：改成全體一起進行，可發言、可打字、也可只是旁聽，用彈性換低壓力。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挑戰二：辦社群本來很耗資源；他們靠分攤工作、善用現成工具，把負擔壓到很低。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7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意外收穫：固定一起籌備，反而讓四位引導者對組織更有歸屬感、彼此更有連結。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74920"/>
            <a:ext cx="10908792" cy="1325880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5330952"/>
            <a:ext cx="128016" cy="128016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5221224"/>
            <a:ext cx="10085832" cy="10332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1">
                <a:solidFill>
                  <a:srgbClr val="6E8FAE"/>
                </a:solidFill>
                <a:latin typeface="Calibri"/>
                <a:cs typeface="Calibri"/>
              </a:rPr>
              <a:t>…we noticed several attendees left the session when breakout rooms began.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我們發現，一旦開始分組，就有好幾位參與者直接離開了。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77724" cy="77724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6948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Calibri"/>
                <a:cs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關鍵圖一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關鍵圖一：一年間的出席人數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8F84"/>
                </a:solidFill>
                <a:latin typeface="Calibri"/>
                <a:cs typeface="Calibri"/>
              </a:rPr>
              <a:t>Figure 1. Number of attendees over 1 year</a:t>
            </a:r>
          </a:p>
        </p:txBody>
      </p:sp>
      <p:pic>
        <p:nvPicPr>
          <p:cNvPr id="8" name="Picture 7" descr="fig1_attend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159" y="1874519"/>
            <a:ext cx="6449378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30351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圖1. 一年間的參與人數（本圖依原文Figure 1長條高度判讀後乾淨重繪，走勢與原圖一致）。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77724" cy="77724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6948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Calibri"/>
                <a:cs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深講頁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深講：這篇接到我的理論根，也露出我要補的缺口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8F84"/>
                </a:solidFill>
                <a:latin typeface="Calibri"/>
                <a:cs typeface="Calibri"/>
              </a:rPr>
              <a:t>Where it meets SECI — and the gap I fill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5257800" cy="2788920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47548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接到我的理論根（SECI）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4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成員把自己的AI使用經驗講出來＝把講不清楚的隱性知識「外化」。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4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別人聽了、學了、再帶回來分享＝知識在同儕間流動。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4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這正是SECI螺旋裡的externalization（外化）與socialization（共同化）。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4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所以這篇不是離題，而是我理論的真實演出。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11680"/>
            <a:ext cx="5257800" cy="2788920"/>
          </a:xfrm>
          <a:prstGeom prst="roundRect">
            <a:avLst/>
          </a:prstGeom>
          <a:solidFill>
            <a:srgbClr val="ECE3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212848"/>
            <a:ext cx="47548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8A6D52"/>
                </a:solidFill>
                <a:latin typeface="Noto Sans CJK TC"/>
                <a:ea typeface="Noto Sans CJK TC"/>
                <a:cs typeface="Noto Sans CJK TC"/>
              </a:rPr>
              <a:t>他們沒做到、我要補的缺口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400" b="0">
                <a:solidFill>
                  <a:srgbClr val="5A4A3A"/>
                </a:solidFill>
                <a:latin typeface="Noto Sans CJK TC"/>
                <a:ea typeface="Noto Sans CJK TC"/>
                <a:cs typeface="Noto Sans CJK TC"/>
              </a:rPr>
              <a:t>它是觀點文，沒有實證去驗證知識到底有沒有被接住。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400" b="0">
                <a:solidFill>
                  <a:srgbClr val="5A4A3A"/>
                </a:solidFill>
                <a:latin typeface="Noto Sans CJK TC"/>
                <a:ea typeface="Noto Sans CJK TC"/>
                <a:cs typeface="Noto Sans CJK TC"/>
              </a:rPr>
              <a:t>知識多半留在「人腦＋當場對話＋靜態錄影」，事後很難查。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400" b="0">
                <a:solidFill>
                  <a:srgbClr val="5A4A3A"/>
                </a:solidFill>
                <a:latin typeface="Noto Sans CJK TC"/>
                <a:ea typeface="Noto Sans CJK TC"/>
                <a:cs typeface="Noto Sans CJK TC"/>
              </a:rPr>
              <a:t>想找某句別人講過的技巧，要翻錄影、靠記憶，不能用自然語言查。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400" b="0">
                <a:solidFill>
                  <a:srgbClr val="5A4A3A"/>
                </a:solidFill>
                <a:latin typeface="Noto Sans CJK TC"/>
                <a:ea typeface="Noto Sans CJK TC"/>
                <a:cs typeface="Noto Sans CJK TC"/>
              </a:rPr>
              <a:t>我的補法：把經驗外化進NotebookLM，用語意向量讓它「查得到」，再用質化驗證。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80"/>
            <a:ext cx="10908792" cy="1371600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5239512"/>
            <a:ext cx="128016" cy="128016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5129784"/>
            <a:ext cx="10085832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1">
                <a:solidFill>
                  <a:srgbClr val="6E8FAE"/>
                </a:solidFill>
                <a:latin typeface="Calibri"/>
                <a:cs typeface="Calibri"/>
              </a:rPr>
              <a:t>…learning from peers about how generative AI is being applied… participants are better prepared to integrate it into their work.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向同儕學習AI在機構裡實際怎麼被用，參與者更能把它整合進工作。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77724" cy="77724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6948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Calibri"/>
                <a:cs typeface="Calibr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運作架構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他們的極簡籌備框架（Figure 2）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8F84"/>
                </a:solidFill>
                <a:latin typeface="Calibri"/>
                <a:cs typeface="Calibri"/>
              </a:rPr>
              <a:t>Figure 2. A minimalist planning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2487168" cy="2651760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560320"/>
            <a:ext cx="566928" cy="566928"/>
          </a:xfrm>
          <a:prstGeom prst="ellipse">
            <a:avLst/>
          </a:prstGeom>
          <a:solidFill>
            <a:srgbClr val="3C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9385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小型志願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領導團隊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069080"/>
            <a:ext cx="19751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四位引導者分攤，跟上趨勢、規劃並引導活動的負擔變得可負荷。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2286000"/>
            <a:ext cx="2487168" cy="2651760"/>
          </a:xfrm>
          <a:prstGeom prst="round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67328" y="2560320"/>
            <a:ext cx="566928" cy="566928"/>
          </a:xfrm>
          <a:prstGeom prst="ellipse">
            <a:avLst/>
          </a:prstGeom>
          <a:solidFill>
            <a:srgbClr val="3C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3246120"/>
            <a:ext cx="19385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維持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非正式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069080"/>
            <a:ext cx="19751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每月碰一次面規劃、各自完成任務、再把活動辦起來，保持簡單。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2286000"/>
            <a:ext cx="2487168" cy="2651760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74536" y="2560320"/>
            <a:ext cx="566928" cy="566928"/>
          </a:xfrm>
          <a:prstGeom prst="ellipse">
            <a:avLst/>
          </a:prstGeom>
          <a:solidFill>
            <a:srgbClr val="3C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46120"/>
            <a:ext cx="19385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善用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既有工具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069080"/>
            <a:ext cx="19751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Teams, email, SharePoint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溝通整理，不必另起爐灶。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2286000"/>
            <a:ext cx="2487168" cy="2651760"/>
          </a:xfrm>
          <a:prstGeom prst="roundRect">
            <a:avLst/>
          </a:prstGeom>
          <a:solidFill>
            <a:srgbClr val="D7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1744" y="2560320"/>
            <a:ext cx="566928" cy="566928"/>
          </a:xfrm>
          <a:prstGeom prst="ellipse">
            <a:avLst/>
          </a:prstGeom>
          <a:solidFill>
            <a:srgbClr val="3C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3246120"/>
            <a:ext cx="19385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與其他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行動互補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4069080"/>
            <a:ext cx="197510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與組織內其他AI教育行動協力，並設定清楚目標與受眾，放大影響。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四個動作就是全部：小團隊、不正式、用現成工具、跟別人互補。我的共學團也照這個輕量精神設計。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77724" cy="77724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6948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回到我的研究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回到我的研究：我站在哪、要補什麼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8F84"/>
                </a:solidFill>
                <a:latin typeface="Calibri"/>
                <a:cs typeface="Calibri"/>
              </a:rPr>
              <a:t>Back to my study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19072"/>
            <a:ext cx="10908792" cy="1499616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901952"/>
            <a:ext cx="164592" cy="164592"/>
          </a:xfrm>
          <a:prstGeom prst="ellipse">
            <a:avLst/>
          </a:prstGeom>
          <a:solidFill>
            <a:srgbClr val="3C5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837944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理論根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31136"/>
            <a:ext cx="996696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3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SECI知識螺旋（野中，1994）＋實踐社群（CoP）。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3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知識在人與人互動中被外化、被分享、被再創造。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3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傳承採廣義：含同儕互傳，不限長輩傳晚輩。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73552"/>
            <a:ext cx="10908792" cy="1188720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3456432"/>
            <a:ext cx="164592" cy="164592"/>
          </a:xfrm>
          <a:prstGeom prst="ellipse">
            <a:avLst/>
          </a:prstGeom>
          <a:solidFill>
            <a:srgbClr val="8A6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392424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8A6D52"/>
                </a:solidFill>
                <a:latin typeface="Noto Sans CJK TC"/>
                <a:ea typeface="Noto Sans CJK TC"/>
                <a:cs typeface="Noto Sans CJK TC"/>
              </a:rPr>
              <a:t>這篇的貢獻與缺口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85616"/>
            <a:ext cx="9966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3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貢獻：證明輕量社群真的能讓同儕知識流動起來。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3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缺口：是觀點文、未實證；知識難事後查、不能語意搜尋。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17136"/>
            <a:ext cx="10908792" cy="1810512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700016"/>
            <a:ext cx="164592" cy="164592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636008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我的切入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029200"/>
            <a:ext cx="996696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3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6場雙週工作坊，輪流當知識提供者與尋求者。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3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提供者把AI使用經驗外化進NotebookLM（固定四欄）。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3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尋求者比較「語意向量搜尋」與「傳統關鍵字搜尋」。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6E8FAE"/>
                </a:solidFill>
                <a:latin typeface="Noto Sans CJK TC"/>
                <a:ea typeface="Noto Sans CJK TC"/>
                <a:cs typeface="Noto Sans CJK TC"/>
              </a:rPr>
              <a:t>·　</a:t>
            </a:r>
            <a:r>
              <a:rPr sz="1300" b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以深度訪談＋主題分析做質化驗證，問卷僅備用。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77724" cy="77724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6948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文獻資訊與公信力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文獻資訊與公信力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8F84"/>
                </a:solidFill>
                <a:latin typeface="Calibri"/>
                <a:cs typeface="Calibri"/>
              </a:rPr>
              <a:t>Source &amp; credibility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10908792" cy="841248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完整出處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20240"/>
            <a:ext cx="8138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Schultz, K. E., Van Erp, N. L., Minter, C. J., &amp; Nelson, K. B. (2026). Generative AI education: Building a community of practice at Mayo Clinic. Innovations in Education and Teaching International, 63(3), 882–887.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71216"/>
            <a:ext cx="10908792" cy="6035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71216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DOI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71216"/>
            <a:ext cx="8138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F3A42"/>
                </a:solidFill>
                <a:latin typeface="Calibri"/>
                <a:cs typeface="Calibri"/>
              </a:rPr>
              <a:t>10.1080/14703297.2025.2507299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84448"/>
            <a:ext cx="10908792" cy="603504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84448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公信力等級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84448"/>
            <a:ext cx="8138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Q1期刊（SSCI，Education類；SCImago查證屬該領域前段）。等級夠高。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97680"/>
            <a:ext cx="10908792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2194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文體提醒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97680"/>
            <a:ext cx="8138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作者自述為opinion piece（觀點文），非實證研究。故定位為實務佐證、概念來源與研究動機背書，不當方法論主幹。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48656"/>
            <a:ext cx="10908792" cy="603504"/>
          </a:xfrm>
          <a:prstGeom prst="roundRect">
            <a:avLst/>
          </a:prstGeom>
          <a:solidFill>
            <a:srgbClr val="E4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48656"/>
            <a:ext cx="21945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研讀範圍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248656"/>
            <a:ext cx="8138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涵蓋全文：摘要、第1至5節（前言、建立社群、成果與挑戰、心得、未來方向）、作者群、利益衝突聲明與參考文獻。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457200"/>
            <a:ext cx="77724" cy="77724"/>
          </a:xfrm>
          <a:prstGeom prst="ellipse">
            <a:avLst/>
          </a:prstGeom>
          <a:solidFill>
            <a:srgbClr val="6E8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6948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" y="457200"/>
            <a:ext cx="77724" cy="77724"/>
          </a:xfrm>
          <a:prstGeom prst="ellipse">
            <a:avLst/>
          </a:prstGeom>
          <a:solidFill>
            <a:srgbClr val="A9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中英對照連結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完整中英對照文件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8F84"/>
                </a:solidFill>
                <a:latin typeface="Calibri"/>
                <a:cs typeface="Calibri"/>
              </a:rPr>
              <a:t>Full bilingual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67665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2F3A42"/>
                </a:solidFill>
                <a:latin typeface="Noto Sans CJK TC"/>
                <a:ea typeface="Noto Sans CJK TC"/>
                <a:cs typeface="Noto Sans CJK TC"/>
              </a:rPr>
              <a:t>想看逐段中英對照、Table 1與兩張圖的完整版本，請開這份文件：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① 可點連結：（待回填Google Drive分享連結）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② 完整網址：（待回填，供手動複製）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3C5A73"/>
                </a:solidFill>
                <a:latin typeface="Noto Sans CJK TC"/>
                <a:ea typeface="Noto Sans CJK TC"/>
                <a:cs typeface="Noto Sans CJK TC"/>
              </a:rPr>
              <a:t>③ 右方QRcode：手機掃描直接開（待回填）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檔名：####A06共學團實踐社群_段落中英對照_20260624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2194560"/>
            <a:ext cx="329184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E8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194560"/>
            <a:ext cx="3291840" cy="3291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9A8F84"/>
                </a:solidFill>
                <a:latin typeface="Calibri"/>
                <a:cs typeface="Calibri"/>
              </a:rPr>
              <a:t>QRcode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8F84"/>
                </a:solidFill>
                <a:latin typeface="Noto Sans CJK TC"/>
                <a:ea typeface="Noto Sans CJK TC"/>
                <a:cs typeface="Noto Sans CJK TC"/>
              </a:rPr>
              <a:t>（待小D上傳Google Drive後回填）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