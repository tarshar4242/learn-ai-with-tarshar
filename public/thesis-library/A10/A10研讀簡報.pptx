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各位老師好，我是靜娟，今天報告A10這篇。篇名是生成式AI與知識管理的交會，副標是來自軟體開發實務的洞察，2025年發表在Knowledge and Process Management這本Wiley的期刊。先講我為什麼選這篇。前面A09那篇是企業級的技術回顧，講的是機器、向量庫、評估指標，比較硬。這篇A10剛好相反，它是一篇質化訪談，訪了8個國家11位軟體工程師，問他們每天怎麼用ChatGPT這類工具。它有一個發現特別打到我：這些工程師開始不問同事、不查Stack Overflow，改成直接問AI。這個畫面，就是我研究在比的東西的真實版本。我的論文在比語意向量工具跟傳統關鍵字搜尋，誰找答案找得比較好。A10等於用真人的嘴告訴我，這個轉變正在發生。所以這篇對我來說，是現象基礎，也是外化概念的連結點。慢慢來，比較快，我們一頁一頁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這篇跟我的關係講清楚。左邊是它做了什麼。它訪了8國11位工程師，用TOE框架，就是技術、組織、環境這三個面向，把訪談整理成五個主題。它最關鍵的三個發現：第一，工程師改成問AI，越來越少問同事、越來越少查Stack Overflow這種論壇；第二，AI對罕見、很特定的問題其實不太可靠，需要有經驗的人去review、去改；第三，它呼籲AI時代的知識管理理論需要修訂。右邊是這些對我的意義。第一條，工程師改問AI少查論壇，這個查詢行為的轉變，就是我研究在比的東西的真實版本，我比的就是語意向量工具跟傳統關鍵字搜尋。第二條，它說工程師靠互動式重新表述問題去找答案，這正是我設計的語意改寫題。第三條，它說AI不可靠要驗證，這就是我要量化的答案正確率跟來源命中率。第四條最重要，它直接講到知識外化，呼應我守的那條線。簡單講，與其說它跟我無關，不如說它用真人經驗，幫我的量化研究鋪好了現象的地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這頁給老師看份量。完整出處在上面，五位作者，第一作者Kirchner在丹麥技術大學，其他幾位在義大利帕多瓦大學，2025年發在Knowledge and Process Management，DOI附了，是開放取用的。下面三張卡。第一張，期刊與類型：這是Wiley出版、知識管理領域的期刊，這篇是質化訪談。它的分級我老實標註，建議用SCImago查證，我不在這裡亂報Q幾，因為公信力要講有憑據。第二張，研究設計：半結構訪談，8國11位開發者，用TOE框架分析，它的價值在於真人經驗、第一線的現象洞察。第三張是研讀範圍，我聚焦核心章節，只有2.1.2那段密集介紹別人研究的地方我做了濃縮，這個我在中英對照裡也明白標出來了。把這篇的定位講清楚：它不是我方法論的主幹，因為我是量化，它是質化；它是我的現象佐證跟外化連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篇一句話講完，就是：AI變成新同事之後，知識怎麼流動也跟著變。我用三層講。第一層，效率上：AI能很快解決那些簡單、重複的程式任務，工程師很愛用，知識的創造變得即時，想到問題馬上問、馬上有答案。第二層，但代價是：因為都問AI了，所以變得少問同事、少查論壇，同儕之間的互動變少，那種你問我、我問你、一個問題激出另一個問題的自發知識分享，就跟著縮水。這是雙面刃。第三層，更深一層：作者說AI生成的東西是一種新型的知識，這逼著我們重新去想知識管理的理論該怎麼修。為什麼這對我重要？因為它證明了一件事：AI正在改變人找答案的方式。而我的研究，就是拿一把尺去量這個改變到底有多大，量語意向量工具跟傳統搜尋，在我的真實文件上，到底誰找得準、找得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它怎麼做研究。左邊這張圖是它的理論框架，叫TOE，技術、組織、環境三個因素，一起影響一個組織要不要採用新技術，這裡就是要不要用GenAI做知識管理。下面我補了一句TOE是什麼，免得老師卡在縮寫。右邊我把這套方法的取捨講清楚，這也是我自己在練的判斷力。它是質化、探索性的研究，適合看現象怎麼發生。它用便利抽樣訪了11個人，這代表它深度夠、故事豐富，但人數少，不能拿來推論到全體工程師。它的分析很嚴謹，先用歸納讓主題自己從訪談浮現，再用TOE框架把這些主題歸位，而且主題分析是用Braun跟Clarke的六階段法，方法是有本的。我要特別點出來：它的強項是洞察，弱項是數字跟代表性。這正好是我量化研究的互補面。它告訴我現象長怎樣，我用實驗去給出可以測量的成效數字。一個給故事，一個給尺，兩個合起來才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看它訪的是哪些人。三個數字。第一，11位受訪者來自8個國家，地理跟文化很多元。第二，他們的軟體開發資歷從半年到30年都有，橫跨新手到老手。第三，但他們用GenAI的資歷都很短，0到2年，多數還是新手。這點很重要，代表這篇捕捉的是大家剛開始用AI的那個階段。下面我講為什麼這個樣本對我有參考價值。受訪者橫跨丹麥、義大利、伊朗、瑞典這些國家，產業從新創到金融、遊戲，角色從初階到首席工程師。這種多元背景的少數深度訪談，就是質化探索的典型做法，它不追求統計上的代表性，它追求的是把一個現象看深、看透。我借鏡的是它這種看現象的能力，但我的研究會用標準化的題庫、找好幾位操作者來跑，把它缺的那個可量化的一面補上。這就是質化跟量化的接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把五個主題照TOE歸成三類，一眼看完整篇結果。技術面有兩個主題：第一個是使用與目的，工程師拿AI來自動除錯、生成程式、重構，效率擺第一；第二個是挑戰，AI寫的程式碼可能不準，要驗證，而且怕用久了過度依賴。組織面也有兩個：第三個是學習與適應，催生了提示工程這個新本事，但同儕互動變少了；第四個是工作實務整合，它改變了新人到職跟團隊協作的方式。環境面一個：第五個是公開資料跟隱私，公司擔心機密程式碼外洩，有政策限制。最後一句是我的重點：我特別盯第二個跟第三個。第二個講可靠性、講要驗證，第三個講查詢行為、講少查論壇。這兩個主題，直接連到我的研究設計，一個連到我要量的正確率，一個連到我要比的搜尋方式。其他三個是脈絡，這兩個是我的鉤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這頁是第一個深講，也是這篇最打到我的地方：查詢行為的轉變，正是我研究的現象。左邊是A10觀察到的轉變。GenAI降低了工程師對論壇、對Stack Overflow、對部落格的依賴，也降低了問同事的頻率。為什麼？因為AI能很快給一個解，免去你查好幾個來源、自己拼湊的工。而且工程師會靠互動式重新表述問題，就是換個方式再問一次、把問題講更清楚，慢慢逼近答案。但它也誠實說了，對罕見、很特定的問題，AI其實不太可靠。右邊我把這些一條一條接到我的研究設計。它說大家改用AI查、少查傳統來源，這正是我實驗組跟對照組的對比，實驗組是語意向量的NotebookLM，對照組是傳統關鍵字搜尋。它說互動式重新表述問題，這正是我設計的語意改寫題，用同義詞、換句話去問。它說AI對特定問題不可靠，這正是我要量的答案正確率跟來源命中率。它說AI快速給解、免查多源，這正是我要量的查詢時間跟查詢次數。你看，這篇等於用真人經驗，把我每一個指標的設計理由都背書了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第二個深講：外化跟可靠性，呼應我守的那條線。左邊，A10觸及的外化議題。它引了Alavi的六大風險，其中第五條直接寫著：員工可能因此不再投入於知識的外化。這個externalisation，外化，就是我論文的核心動詞。還有第四條，員工可能接受AI給的知識卻沒有內化。它的結論是，AI生成的是一種新型知識，要持續驗證，不能被動全收。而且它把提示工程講成一種新的知識創造形式。右邊是我守乾淨的研究主張。我的研究刻意守一條線：我只測外化文件能不能被正確檢索，我不測傳承有沒有成功。為什麼?因為傳承牽涉到人有沒有真的吸收、有沒有內化，那是人的事，量不準也不該由AI代勞。A10正好印證了我守這條線的理由：內化跟判斷是人的事，AI不該越界；AI負責的是外化跟被動查詢，人負責驗證跟吸收。這條線守乾淨，我的研究主張才不會糊掉，才站得住。一篇講知識管理風險的質化研究，幫我把研究的邊界畫得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，收束到我的研究。這頁三根柱子，把A10對我的意義講完整。第一根，現象基礎：A10用真人工程師的嘴告訴我，大家已經在改問AI、少查傳統來源了。這代表我研究在比的語意向量對關鍵字，不是我憑空假設的對立，它是正在發生的現實。第二根，外化連結：它觸及知識的外化跟內化風險，印證了我守的那條線，AI處理外化、人管內化。第三根，方法互補：它是質化，給的是洞察跟現象；我是量化，給的是可以測量的檢索成效數字。一個負責說清楚發生了什麼，一個負責說清楚差多少。最後一句把三角講完：A09給我技術面，證明語意向量是業界主流；A10給我人類面，證明使用行為正在轉變；我自己給量化面，去測這個轉變帶來的成效到底差多少。三篇湊起來，技術、人、數字三個角都齊了，我的研究就站在一個很穩的三角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這頁是出處頁，要抄進參考文獻直接用。上面是APA格式的完整引用，五位作者、年份、篇名、期刊、卷期頁碼都齊了，DOI連結也在。下面四張小卡：期刊是Knowledge and Process Management，年份2025年第32卷223到235頁，開放取用，類型是質化訪談研究。最底下我把研讀範圍再交代一次：涵蓋摘要、引言、背景、方法、結果五個主題、討論、結論；其中2.1.2那段別人研究的回顧，還有表2的受訪引述，我都做了重點濃縮，而且在中英對照文件裡都有明白標註。另外我老實提醒一句，這本期刊的分級我建議用SCImago查證之後再填，我不在這裡亂報Q幾，公信力要講有憑據，這是老師教的規矩，我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一頁是完整中英對照文件的連結頁。我另外做了一份逐段中英對照的Word檔，把這篇的核心章節一段英文配一段中文，TOE圖跟11位受訪者的表格也照原文位置放進去了，中文譯文用藍框標起來方便對照。這頁會放三層備援：可以點的超連結、完整的網址文字、還有QR碼，報告現場不管哪個方式都打得開。現在QR是待回填狀態，等我把這份Word檔上傳到Google Drive、拿到分享連結之後，再生成QR碼貼上來。好，A10我就報告到這裡。簡單回顧：它是質化的人類視角面，用11位工程師的真實經驗，幫我把研究的現象基礎打穩，也把我守的外化那條線講清楚，跟A09的技術面、我自己的量化面剛好湊成完整的三角。謝謝老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600"/>
              </a:spcAft>
            </a:pPr>
            <a:r>
              <a:rPr sz="2000" b="1">
                <a:solidFill>
                  <a:srgbClr val="C9E4E1"/>
                </a:solidFill>
                <a:latin typeface="Noto Sans CJK TC"/>
                <a:ea typeface="Noto Sans CJK TC"/>
              </a:rPr>
              <a:t>A10 論文研讀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Noto Sans CJK TC"/>
                <a:ea typeface="Noto Sans CJK TC"/>
              </a:rPr>
              <a:t>AI 成了新同事之後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F6F3EC"/>
                </a:solidFill>
                <a:latin typeface="Noto Sans CJK TC"/>
                <a:ea typeface="Noto Sans CJK TC"/>
              </a:rPr>
              <a:t>11位工程師的真實經驗，照見我研究的「現象基礎」與「外化連結」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C9E4E1"/>
                </a:solidFill>
                <a:latin typeface="Calibri"/>
                <a:ea typeface="Noto Sans CJK TC"/>
              </a:rPr>
              <a:t>Generative AI Meets Knowledge Management: Insights From Software 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9E4E1"/>
                </a:solidFill>
                <a:latin typeface="Calibri"/>
                <a:ea typeface="Noto Sans CJK TC"/>
              </a:rPr>
              <a:t>Development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6F3EC"/>
                </a:solidFill>
                <a:latin typeface="Calibri"/>
                <a:ea typeface="Noto Sans CJK TC"/>
              </a:rPr>
              <a:t>Kirchner et al.（2025）｜Knowledge and Process Management, 32, 223–235｜DOI: 10.1002/kpm.70004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C9E4E1"/>
                </a:solidFill>
                <a:latin typeface="Noto Sans CJK TC"/>
                <a:ea typeface="Noto Sans CJK TC"/>
              </a:rPr>
              <a:t>質化訪談研究（11位開發者、8國）｜理論框架：TOE（技術組織環境）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188720"/>
            <a:ext cx="164592" cy="164592"/>
          </a:xfrm>
          <a:prstGeom prst="ellipse">
            <a:avLst/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188720"/>
            <a:ext cx="164592" cy="164592"/>
          </a:xfrm>
          <a:prstGeom prst="ellipse">
            <a:avLst/>
          </a:prstGeom>
          <a:solidFill>
            <a:srgbClr val="C9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C9E4E1"/>
                </a:solidFill>
                <a:latin typeface="Noto Sans CJK TC"/>
                <a:ea typeface="Noto Sans CJK TC"/>
              </a:rPr>
              <a:t>羅靜娟　714630117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1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C9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0F6E6E"/>
                </a:solidFill>
                <a:latin typeface="Noto Sans CJK TC"/>
                <a:ea typeface="Noto Sans CJK TC"/>
              </a:rPr>
              <a:t>為什麼我要讀這篇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7E8F8D"/>
                </a:solidFill>
                <a:latin typeface="Noto Sans CJK TC"/>
                <a:ea typeface="Noto Sans CJK TC"/>
              </a:rPr>
              <a:t>它是質化的人類視角，跟A09技術面、我的量化面三角互補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394960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463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900" b="1">
                <a:solidFill>
                  <a:srgbClr val="0F6E6E"/>
                </a:solidFill>
                <a:latin typeface="Noto Sans CJK TC"/>
                <a:ea typeface="Noto Sans CJK TC"/>
              </a:rPr>
              <a:t>它　這篇做了什麼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1E2B2B"/>
                </a:solidFill>
                <a:latin typeface="Noto Sans CJK TC"/>
                <a:ea typeface="Noto Sans CJK TC"/>
              </a:rPr>
              <a:t>訪談8國11位軟體工程師，問每天怎麼用GenAI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1E2B2B"/>
                </a:solidFill>
                <a:latin typeface="Noto Sans CJK TC"/>
                <a:ea typeface="Noto Sans CJK TC"/>
              </a:rPr>
              <a:t>用TOE框架（技術、組織、環境）整理五個主題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1E2B2B"/>
                </a:solidFill>
                <a:latin typeface="Noto Sans CJK TC"/>
                <a:ea typeface="Noto Sans CJK TC"/>
              </a:rPr>
              <a:t>發現工程師改問AI，少問同事、少查論壇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1E2B2B"/>
                </a:solidFill>
                <a:latin typeface="Noto Sans CJK TC"/>
                <a:ea typeface="Noto Sans CJK TC"/>
              </a:rPr>
              <a:t>發現AI對罕見、特定問題較不可靠，要人review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1E2B2B"/>
                </a:solidFill>
                <a:latin typeface="Noto Sans CJK TC"/>
                <a:ea typeface="Noto Sans CJK TC"/>
              </a:rPr>
              <a:t>呼籲：AI時代的知識管理理論需要修訂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54480"/>
            <a:ext cx="5577840" cy="4480560"/>
          </a:xfrm>
          <a:prstGeom prst="roundRect">
            <a:avLst>
              <a:gd name="adj" fmla="val 45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900" b="1">
                <a:solidFill>
                  <a:srgbClr val="0F6E6E"/>
                </a:solidFill>
                <a:latin typeface="Noto Sans CJK TC"/>
                <a:ea typeface="Noto Sans CJK TC"/>
              </a:rPr>
              <a:t>我　對我研究的意義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1E2B2B"/>
                </a:solidFill>
                <a:latin typeface="Noto Sans CJK TC"/>
                <a:ea typeface="Noto Sans CJK TC"/>
              </a:rPr>
              <a:t>「改問AI、少查論壇」就是我語意向量PK關鍵字的現象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1E2B2B"/>
                </a:solidFill>
                <a:latin typeface="Noto Sans CJK TC"/>
                <a:ea typeface="Noto Sans CJK TC"/>
              </a:rPr>
              <a:t>互動式重新表述問題，正是我的語意改寫題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1E2B2B"/>
                </a:solidFill>
                <a:latin typeface="Noto Sans CJK TC"/>
                <a:ea typeface="Noto Sans CJK TC"/>
              </a:rPr>
              <a:t>AI不可靠、要驗證，就是我要量的答案正確率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1E2B2B"/>
                </a:solidFill>
                <a:latin typeface="Noto Sans CJK TC"/>
                <a:ea typeface="Noto Sans CJK TC"/>
              </a:rPr>
              <a:t>它觸及知識外化，呼應我守的「AI處理外化」線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1E2B2B"/>
                </a:solidFill>
                <a:latin typeface="Noto Sans CJK TC"/>
                <a:ea typeface="Noto Sans CJK TC"/>
              </a:rPr>
              <a:t>它質化給現象，我量化給數字，兩者互補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AV8D｜A10 研讀　</a:t>
            </a: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GenAI與知識管理：軟體開發實務的洞察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Calibri"/>
                <a:ea typeface="Noto Sans CJK TC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1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C9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0F6E6E"/>
                </a:solidFill>
                <a:latin typeface="Noto Sans CJK TC"/>
                <a:ea typeface="Noto Sans CJK TC"/>
              </a:rPr>
              <a:t>文獻資訊與公信力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7E8F8D"/>
                </a:solidFill>
                <a:latin typeface="Noto Sans CJK TC"/>
                <a:ea typeface="Noto Sans CJK TC"/>
              </a:rPr>
              <a:t>先確認份量，再決定怎麼引用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155680" cy="2057400"/>
          </a:xfrm>
          <a:prstGeom prst="roundRect">
            <a:avLst>
              <a:gd name="adj" fmla="val 45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F6E6E"/>
                </a:solidFill>
                <a:latin typeface="Noto Sans CJK TC"/>
                <a:ea typeface="Noto Sans CJK TC"/>
              </a:rPr>
              <a:t>完整出處　</a:t>
            </a:r>
            <a:r>
              <a:rPr sz="1350" b="0">
                <a:solidFill>
                  <a:srgbClr val="1E2B2B"/>
                </a:solidFill>
                <a:latin typeface="Calibri"/>
                <a:ea typeface="Noto Sans CJK TC"/>
              </a:rPr>
              <a:t>Kirchner, K., Bolisani, E., Cherkos Kassaneh, T., Scarso, E., &amp; Taraghi, N. (2025). Generative AI Meets Knowledge Management: Insights From Software Development Practices. </a:t>
            </a:r>
            <a:r>
              <a:rPr sz="1350" b="1">
                <a:solidFill>
                  <a:srgbClr val="1E2B2B"/>
                </a:solidFill>
                <a:latin typeface="Calibri"/>
                <a:ea typeface="Noto Sans CJK TC"/>
              </a:rPr>
              <a:t>Knowledge and Process Management, 32, 223–235.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400"/>
              </a:spcAft>
            </a:pPr>
            <a:r>
              <a:rPr sz="1500" b="1">
                <a:solidFill>
                  <a:srgbClr val="0F6E6E"/>
                </a:solidFill>
                <a:latin typeface="Noto Sans CJK TC"/>
                <a:ea typeface="Noto Sans CJK TC"/>
              </a:rPr>
              <a:t>DOI　</a:t>
            </a:r>
            <a:r>
              <a:rPr sz="1350" b="0">
                <a:solidFill>
                  <a:srgbClr val="1E2B2B"/>
                </a:solidFill>
                <a:latin typeface="Calibri"/>
                <a:ea typeface="Noto Sans CJK TC"/>
              </a:rPr>
              <a:t>10.1002/kpm.70004</a:t>
            </a:r>
            <a:r>
              <a:rPr sz="1300" b="0">
                <a:solidFill>
                  <a:srgbClr val="7E8F8D"/>
                </a:solidFill>
                <a:latin typeface="Noto Sans CJK TC"/>
                <a:ea typeface="Noto Sans CJK TC"/>
              </a:rPr>
              <a:t>　｜　開放取用（CC BY-NC-ND）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40480"/>
            <a:ext cx="3593592" cy="2194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8952" y="4069080"/>
            <a:ext cx="146304" cy="146304"/>
          </a:xfrm>
          <a:prstGeom prst="ellipse">
            <a:avLst/>
          </a:prstGeom>
          <a:solidFill>
            <a:srgbClr val="1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389120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500"/>
              </a:spcAft>
            </a:pPr>
            <a:r>
              <a:rPr sz="1600" b="1">
                <a:solidFill>
                  <a:srgbClr val="0F6E6E"/>
                </a:solidFill>
                <a:latin typeface="Noto Sans CJK TC"/>
                <a:ea typeface="Noto Sans CJK TC"/>
              </a:rPr>
              <a:t>期刊與類型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B2B"/>
                </a:solidFill>
                <a:latin typeface="Noto Sans CJK TC"/>
                <a:ea typeface="Noto Sans CJK TC"/>
              </a:rPr>
              <a:t>Knowledge and Process Management（Wiley）｜質化訪談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spcAft>
                <a:spcPts val="400"/>
              </a:spcAft>
            </a:pPr>
            <a:r>
              <a:rPr sz="1200" b="0">
                <a:solidFill>
                  <a:srgbClr val="7E8F8D"/>
                </a:solidFill>
                <a:latin typeface="Noto Sans CJK TC"/>
                <a:ea typeface="Noto Sans CJK TC"/>
              </a:rPr>
              <a:t>分級建議以SCImago查證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3840480"/>
            <a:ext cx="3593592" cy="2194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60" y="4069080"/>
            <a:ext cx="146304" cy="146304"/>
          </a:xfrm>
          <a:prstGeom prst="ellipse">
            <a:avLst/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389120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500"/>
              </a:spcAft>
            </a:pPr>
            <a:r>
              <a:rPr sz="1600" b="1">
                <a:solidFill>
                  <a:srgbClr val="0F6E6E"/>
                </a:solidFill>
                <a:latin typeface="Noto Sans CJK TC"/>
                <a:ea typeface="Noto Sans CJK TC"/>
              </a:rPr>
              <a:t>研究設計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B2B"/>
                </a:solidFill>
                <a:latin typeface="Noto Sans CJK TC"/>
                <a:ea typeface="Noto Sans CJK TC"/>
              </a:rPr>
              <a:t>半結構訪談｜8國11位開發者｜TOE框架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spcAft>
                <a:spcPts val="400"/>
              </a:spcAft>
            </a:pPr>
            <a:r>
              <a:rPr sz="1200" b="0">
                <a:solidFill>
                  <a:srgbClr val="7E8F8D"/>
                </a:solidFill>
                <a:latin typeface="Noto Sans CJK TC"/>
                <a:ea typeface="Noto Sans CJK TC"/>
              </a:rPr>
              <a:t>真人經驗、現象洞察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6136" y="3840480"/>
            <a:ext cx="3593592" cy="2194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02168" y="4069080"/>
            <a:ext cx="146304" cy="146304"/>
          </a:xfrm>
          <a:prstGeom prst="ellipse">
            <a:avLst/>
          </a:prstGeom>
          <a:solidFill>
            <a:srgbClr val="C9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4389120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500"/>
              </a:spcAft>
            </a:pPr>
            <a:r>
              <a:rPr sz="1600" b="1">
                <a:solidFill>
                  <a:srgbClr val="0F6E6E"/>
                </a:solidFill>
                <a:latin typeface="Noto Sans CJK TC"/>
                <a:ea typeface="Noto Sans CJK TC"/>
              </a:rPr>
              <a:t>研讀範圍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B2B"/>
                </a:solidFill>
                <a:latin typeface="Noto Sans CJK TC"/>
                <a:ea typeface="Noto Sans CJK TC"/>
              </a:rPr>
              <a:t>摘要、引言、背景、方法、結果五主題、討論、結論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spcAft>
                <a:spcPts val="400"/>
              </a:spcAft>
            </a:pPr>
            <a:r>
              <a:rPr sz="1200" b="0">
                <a:solidFill>
                  <a:srgbClr val="7E8F8D"/>
                </a:solidFill>
                <a:latin typeface="Noto Sans CJK TC"/>
                <a:ea typeface="Noto Sans CJK TC"/>
              </a:rPr>
              <a:t>2.1.2文獻回顧濃縮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AV8D｜A10 研讀　</a:t>
            </a: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GenAI與知識管理：軟體開發實務的洞察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Calibri"/>
                <a:ea typeface="Noto Sans CJK TC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1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C9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C9E4E1"/>
                </a:solidFill>
                <a:latin typeface="Noto Sans CJK TC"/>
                <a:ea typeface="Noto Sans CJK TC"/>
              </a:rPr>
              <a:t>這篇在說什麼：一句話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Noto Sans CJK TC"/>
                <a:ea typeface="Noto Sans CJK TC"/>
              </a:rPr>
              <a:t>AI 變成新同事，知識怎麼流動跟著變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881360" cy="1188720"/>
          </a:xfrm>
          <a:prstGeom prst="roundRect">
            <a:avLst>
              <a:gd name="adj" fmla="val 4500"/>
            </a:avLst>
          </a:prstGeom>
          <a:solidFill>
            <a:srgbClr val="14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0279"/>
            <a:ext cx="10241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C9E4E1"/>
                </a:solidFill>
                <a:latin typeface="Noto Sans CJK TC"/>
                <a:ea typeface="Noto Sans CJK TC"/>
              </a:rPr>
              <a:t>效率上　</a:t>
            </a:r>
            <a:r>
              <a:rPr sz="1550" b="0">
                <a:solidFill>
                  <a:srgbClr val="FFFFFF"/>
                </a:solidFill>
                <a:latin typeface="Noto Sans CJK TC"/>
                <a:ea typeface="Noto Sans CJK TC"/>
              </a:rPr>
              <a:t>AI 能快速解決簡單、重複的程式任務，工程師很愛，知識創造變即時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10881360" cy="1188720"/>
          </a:xfrm>
          <a:prstGeom prst="roundRect">
            <a:avLst>
              <a:gd name="adj" fmla="val 4500"/>
            </a:avLst>
          </a:prstGeom>
          <a:solidFill>
            <a:srgbClr val="14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11879"/>
            <a:ext cx="10241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C9E4E1"/>
                </a:solidFill>
                <a:latin typeface="Noto Sans CJK TC"/>
                <a:ea typeface="Noto Sans CJK TC"/>
              </a:rPr>
              <a:t>但代價是　</a:t>
            </a:r>
            <a:r>
              <a:rPr sz="1550" b="0">
                <a:solidFill>
                  <a:srgbClr val="FFFFFF"/>
                </a:solidFill>
                <a:latin typeface="Noto Sans CJK TC"/>
                <a:ea typeface="Noto Sans CJK TC"/>
              </a:rPr>
              <a:t>少問同事、少查論壇，同儕互動變少，自發的知識分享跟著縮水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46320"/>
            <a:ext cx="10881360" cy="1188720"/>
          </a:xfrm>
          <a:prstGeom prst="roundRect">
            <a:avLst>
              <a:gd name="adj" fmla="val 4500"/>
            </a:avLst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983480"/>
            <a:ext cx="10241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F6E6E"/>
                </a:solidFill>
                <a:latin typeface="Noto Sans CJK TC"/>
                <a:ea typeface="Noto Sans CJK TC"/>
              </a:rPr>
              <a:t>更深一層　</a:t>
            </a:r>
            <a:r>
              <a:rPr sz="1550" b="0">
                <a:solidFill>
                  <a:srgbClr val="0F6E6E"/>
                </a:solidFill>
                <a:latin typeface="Noto Sans CJK TC"/>
                <a:ea typeface="Noto Sans CJK TC"/>
              </a:rPr>
              <a:t>AI 生成的是一種新型知識，逼著我們重新想知識管理的理論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C9E4E1"/>
                </a:solidFill>
                <a:latin typeface="Noto Sans CJK TC"/>
                <a:ea typeface="Noto Sans CJK TC"/>
              </a:rPr>
              <a:t>→ 它證明：AI 正在改變人「找答案」的方式。而我研究，就是去量這個改變到底有多大。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1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C9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0F6E6E"/>
                </a:solidFill>
                <a:latin typeface="Noto Sans CJK TC"/>
                <a:ea typeface="Noto Sans CJK TC"/>
              </a:rPr>
              <a:t>它怎麼做研究：質化訪談＋TOE框架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7E8F8D"/>
                </a:solidFill>
                <a:latin typeface="Noto Sans CJK TC"/>
                <a:ea typeface="Noto Sans CJK TC"/>
              </a:rPr>
              <a:t>11位開發者、歸納＋演繹雙取向</a:t>
            </a:r>
          </a:p>
        </p:txBody>
      </p:sp>
      <p:pic>
        <p:nvPicPr>
          <p:cNvPr id="7" name="Picture 6" descr="fig1_t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567" y="1737360"/>
            <a:ext cx="3607904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9136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7E8F8D"/>
                </a:solidFill>
                <a:latin typeface="Noto Sans CJK TC"/>
                <a:ea typeface="Noto Sans CJK TC"/>
              </a:rPr>
              <a:t>圖1　TOE三因素作用於「運用GenAI於知識管理」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315968"/>
            <a:ext cx="5349240" cy="1673352"/>
          </a:xfrm>
          <a:prstGeom prst="roundRect">
            <a:avLst>
              <a:gd name="adj" fmla="val 45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462272"/>
            <a:ext cx="484632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0F6E6E"/>
                </a:solidFill>
                <a:latin typeface="Noto Sans CJK TC"/>
                <a:ea typeface="Noto Sans CJK TC"/>
              </a:rPr>
              <a:t>TOE是什麼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1E2B2B"/>
                </a:solidFill>
                <a:latin typeface="Noto Sans CJK TC"/>
                <a:ea typeface="Noto Sans CJK TC"/>
              </a:rPr>
              <a:t>一套看「組織為何採用新技術」的框架：技術面、組織面、環境面三股力一起影響採用決策。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600200"/>
            <a:ext cx="5577840" cy="4389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50292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650" b="1">
                <a:solidFill>
                  <a:srgbClr val="0F6E6E"/>
                </a:solidFill>
                <a:latin typeface="Noto Sans CJK TC"/>
                <a:ea typeface="Noto Sans CJK TC"/>
              </a:rPr>
              <a:t>這套方法的取捨，我看得很清楚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350" b="0">
                <a:solidFill>
                  <a:srgbClr val="1E2B2B"/>
                </a:solidFill>
                <a:latin typeface="Noto Sans CJK TC"/>
                <a:ea typeface="Noto Sans CJK TC"/>
              </a:rPr>
              <a:t>質化、探索性：適合看「現象怎麼發生」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350" b="0">
                <a:solidFill>
                  <a:srgbClr val="1E2B2B"/>
                </a:solidFill>
                <a:latin typeface="Noto Sans CJK TC"/>
                <a:ea typeface="Noto Sans CJK TC"/>
              </a:rPr>
              <a:t>便利抽樣11人：深度夠，但不能推論母體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350" b="0">
                <a:solidFill>
                  <a:srgbClr val="1E2B2B"/>
                </a:solidFill>
                <a:latin typeface="Noto Sans CJK TC"/>
                <a:ea typeface="Noto Sans CJK TC"/>
              </a:rPr>
              <a:t>歸納先讓主題浮現，再用TOE演繹歸位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350" b="0">
                <a:solidFill>
                  <a:srgbClr val="1E2B2B"/>
                </a:solidFill>
                <a:latin typeface="Noto Sans CJK TC"/>
                <a:ea typeface="Noto Sans CJK TC"/>
              </a:rPr>
              <a:t>Braun &amp; Clarke六階段主題分析，方法有本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350" b="0">
                <a:solidFill>
                  <a:srgbClr val="1E2B2B"/>
                </a:solidFill>
                <a:latin typeface="Noto Sans CJK TC"/>
                <a:ea typeface="Noto Sans CJK TC"/>
              </a:rPr>
              <a:t>它的強項是洞察，弱項是數字與代表性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400"/>
              </a:spcAft>
            </a:pPr>
            <a:r>
              <a:rPr sz="1350" b="1">
                <a:solidFill>
                  <a:srgbClr val="1A8C8C"/>
                </a:solidFill>
                <a:latin typeface="Noto Sans CJK TC"/>
                <a:ea typeface="Noto Sans CJK TC"/>
              </a:rPr>
              <a:t>→ 正好是我量化研究的互補面：它給現象，我給可測量的成效。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AV8D｜A10 研讀　</a:t>
            </a: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GenAI與知識管理：軟體開發實務的洞察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Calibri"/>
                <a:ea typeface="Noto Sans CJK TC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1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C9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0F6E6E"/>
                </a:solidFill>
                <a:latin typeface="Noto Sans CJK TC"/>
                <a:ea typeface="Noto Sans CJK TC"/>
              </a:rPr>
              <a:t>受訪的是哪些人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7E8F8D"/>
                </a:solidFill>
                <a:latin typeface="Noto Sans CJK TC"/>
                <a:ea typeface="Noto Sans CJK TC"/>
              </a:rPr>
              <a:t>8國11位，從0.5年到30年資歷都有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593592" cy="1737360"/>
          </a:xfrm>
          <a:prstGeom prst="roundRect">
            <a:avLst>
              <a:gd name="adj" fmla="val 45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3108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200"/>
              </a:spcAft>
            </a:pPr>
            <a:r>
              <a:rPr sz="3200" b="1">
                <a:solidFill>
                  <a:srgbClr val="0F6E6E"/>
                </a:solidFill>
                <a:latin typeface="Calibri"/>
                <a:ea typeface="Noto Sans CJK TC"/>
              </a:rPr>
              <a:t>11位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1">
                <a:solidFill>
                  <a:srgbClr val="1E2B2B"/>
                </a:solidFill>
                <a:latin typeface="Noto Sans CJK TC"/>
                <a:ea typeface="Noto Sans CJK TC"/>
              </a:rPr>
              <a:t>8個國家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1E2B2B"/>
                </a:solidFill>
                <a:latin typeface="Noto Sans CJK TC"/>
                <a:ea typeface="Noto Sans CJK TC"/>
              </a:rPr>
              <a:t>地理文化多元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691640"/>
            <a:ext cx="3593592" cy="1737360"/>
          </a:xfrm>
          <a:prstGeom prst="roundRect">
            <a:avLst>
              <a:gd name="adj" fmla="val 45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874519"/>
            <a:ext cx="3108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200"/>
              </a:spcAft>
            </a:pPr>
            <a:r>
              <a:rPr sz="3200" b="1">
                <a:solidFill>
                  <a:srgbClr val="0F6E6E"/>
                </a:solidFill>
                <a:latin typeface="Calibri"/>
                <a:ea typeface="Noto Sans CJK TC"/>
              </a:rPr>
              <a:t>0.5–30年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1">
                <a:solidFill>
                  <a:srgbClr val="1E2B2B"/>
                </a:solidFill>
                <a:latin typeface="Noto Sans CJK TC"/>
                <a:ea typeface="Noto Sans CJK TC"/>
              </a:rPr>
              <a:t>軟體開發資歷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1E2B2B"/>
                </a:solidFill>
                <a:latin typeface="Noto Sans CJK TC"/>
                <a:ea typeface="Noto Sans CJK TC"/>
              </a:rPr>
              <a:t>橫跨新手到資深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6136" y="1691640"/>
            <a:ext cx="3593592" cy="1737360"/>
          </a:xfrm>
          <a:prstGeom prst="roundRect">
            <a:avLst>
              <a:gd name="adj" fmla="val 45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874519"/>
            <a:ext cx="3108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200"/>
              </a:spcAft>
            </a:pPr>
            <a:r>
              <a:rPr sz="3200" b="1">
                <a:solidFill>
                  <a:srgbClr val="0F6E6E"/>
                </a:solidFill>
                <a:latin typeface="Calibri"/>
                <a:ea typeface="Noto Sans CJK TC"/>
              </a:rPr>
              <a:t>0–2年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1">
                <a:solidFill>
                  <a:srgbClr val="1E2B2B"/>
                </a:solidFill>
                <a:latin typeface="Noto Sans CJK TC"/>
                <a:ea typeface="Noto Sans CJK TC"/>
              </a:rPr>
              <a:t>GenAI使用資歷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1E2B2B"/>
                </a:solidFill>
                <a:latin typeface="Noto Sans CJK TC"/>
                <a:ea typeface="Noto Sans CJK TC"/>
              </a:rPr>
              <a:t>多數仍是新手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57600"/>
            <a:ext cx="1115568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650" b="1">
                <a:solidFill>
                  <a:srgbClr val="0F6E6E"/>
                </a:solidFill>
                <a:latin typeface="Noto Sans CJK TC"/>
                <a:ea typeface="Noto Sans CJK TC"/>
              </a:rPr>
              <a:t>為什麼這個樣本對我有參考價值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1E2B2B"/>
                </a:solidFill>
                <a:latin typeface="Noto Sans CJK TC"/>
                <a:ea typeface="Noto Sans CJK TC"/>
              </a:rPr>
              <a:t>受訪者橫跨丹麥、義大利、德國、伊朗、英國、瑞典、法國、荷蘭，產業從新創、顧問、研究機構到金融、遊戲都有，角色從初階到首席工程師。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1E2B2B"/>
                </a:solidFill>
                <a:latin typeface="Noto Sans CJK TC"/>
                <a:ea typeface="Noto Sans CJK TC"/>
              </a:rPr>
              <a:t>這種「多元背景的少數深度訪談」，正是質化探索的典型做法，不追求代表性，追求把現象看深看透。我的研究借鏡的是它的「看現象」，但我會用標準化題庫與多位操作者，把它補上可量化的一面。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AV8D｜A10 研讀　</a:t>
            </a: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GenAI與知識管理：軟體開發實務的洞察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Calibri"/>
                <a:ea typeface="Noto Sans CJK TC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1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C9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0F6E6E"/>
                </a:solidFill>
                <a:latin typeface="Noto Sans CJK TC"/>
                <a:ea typeface="Noto Sans CJK TC"/>
              </a:rPr>
              <a:t>五個主題，照TOE歸三類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7E8F8D"/>
                </a:solidFill>
                <a:latin typeface="Noto Sans CJK TC"/>
                <a:ea typeface="Noto Sans CJK TC"/>
              </a:rPr>
              <a:t>技術兩個、組織兩個、環境一個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286000" cy="1417320"/>
          </a:xfrm>
          <a:prstGeom prst="roundRect">
            <a:avLst>
              <a:gd name="adj" fmla="val 4500"/>
            </a:avLst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01168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Noto Sans CJK TC"/>
                <a:ea typeface="Noto Sans CJK TC"/>
              </a:rPr>
              <a:t>技術面 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691640"/>
            <a:ext cx="8686800" cy="1417320"/>
          </a:xfrm>
          <a:prstGeom prst="roundRect">
            <a:avLst>
              <a:gd name="adj" fmla="val 45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801368"/>
            <a:ext cx="8229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400"/>
              </a:spcAft>
            </a:pPr>
            <a:r>
              <a:rPr sz="1450" b="0">
                <a:solidFill>
                  <a:srgbClr val="1E2B2B"/>
                </a:solidFill>
                <a:latin typeface="Noto Sans CJK TC"/>
                <a:ea typeface="Noto Sans CJK TC"/>
              </a:rPr>
              <a:t>① 使用與目的：自動化除錯、生成、重構，效率優先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400"/>
              </a:spcAft>
            </a:pPr>
            <a:r>
              <a:rPr sz="1450" b="0">
                <a:solidFill>
                  <a:srgbClr val="1E2B2B"/>
                </a:solidFill>
                <a:latin typeface="Noto Sans CJK TC"/>
                <a:ea typeface="Noto Sans CJK TC"/>
              </a:rPr>
              <a:t>② 挑戰：程式碼可能不準、要驗證、怕過度依賴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91840"/>
            <a:ext cx="2286000" cy="1417320"/>
          </a:xfrm>
          <a:prstGeom prst="roundRect">
            <a:avLst>
              <a:gd name="adj" fmla="val 4500"/>
            </a:avLst>
          </a:prstGeom>
          <a:solidFill>
            <a:srgbClr val="1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201168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Noto Sans CJK TC"/>
                <a:ea typeface="Noto Sans CJK TC"/>
              </a:rPr>
              <a:t>組織面 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3291840"/>
            <a:ext cx="8686800" cy="1417320"/>
          </a:xfrm>
          <a:prstGeom prst="roundRect">
            <a:avLst>
              <a:gd name="adj" fmla="val 45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3401568"/>
            <a:ext cx="8229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400"/>
              </a:spcAft>
            </a:pPr>
            <a:r>
              <a:rPr sz="1450" b="0">
                <a:solidFill>
                  <a:srgbClr val="1E2B2B"/>
                </a:solidFill>
                <a:latin typeface="Noto Sans CJK TC"/>
                <a:ea typeface="Noto Sans CJK TC"/>
              </a:rPr>
              <a:t>③ 學習與適應：催生提示工程，但同儕互動變少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400"/>
              </a:spcAft>
            </a:pPr>
            <a:r>
              <a:rPr sz="1450" b="0">
                <a:solidFill>
                  <a:srgbClr val="1E2B2B"/>
                </a:solidFill>
                <a:latin typeface="Noto Sans CJK TC"/>
                <a:ea typeface="Noto Sans CJK TC"/>
              </a:rPr>
              <a:t>④ 工作實務整合：改變到職與團隊協作方式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92040"/>
            <a:ext cx="2286000" cy="914400"/>
          </a:xfrm>
          <a:prstGeom prst="roundRect">
            <a:avLst>
              <a:gd name="adj" fmla="val 4500"/>
            </a:avLst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83479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Noto Sans CJK TC"/>
                <a:ea typeface="Noto Sans CJK TC"/>
              </a:rPr>
              <a:t>環境面 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4892040"/>
            <a:ext cx="8686800" cy="914400"/>
          </a:xfrm>
          <a:prstGeom prst="roundRect">
            <a:avLst>
              <a:gd name="adj" fmla="val 45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5001768"/>
            <a:ext cx="8229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400"/>
              </a:spcAft>
            </a:pPr>
            <a:r>
              <a:rPr sz="1450" b="0">
                <a:solidFill>
                  <a:srgbClr val="1E2B2B"/>
                </a:solidFill>
                <a:latin typeface="Noto Sans CJK TC"/>
                <a:ea typeface="Noto Sans CJK TC"/>
              </a:rPr>
              <a:t>⑤ 公開資料與隱私：機密程式碼外洩疑慮、政策限制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0F6E6E"/>
                </a:solidFill>
                <a:latin typeface="Noto Sans CJK TC"/>
                <a:ea typeface="Noto Sans CJK TC"/>
              </a:rPr>
              <a:t>我盯的是②跟③：可靠性（要驗證）和查詢行為（少查論壇），這兩個直接連到我的研究設計。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AV8D｜A10 研讀　</a:t>
            </a: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GenAI與知識管理：軟體開發實務的洞察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Calibri"/>
                <a:ea typeface="Noto Sans CJK TC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1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C9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0F6E6E"/>
                </a:solidFill>
                <a:latin typeface="Noto Sans CJK TC"/>
                <a:ea typeface="Noto Sans CJK TC"/>
              </a:rPr>
              <a:t>查詢行為的轉變：正是我研究的現象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7E8F8D"/>
                </a:solidFill>
                <a:latin typeface="Noto Sans CJK TC"/>
                <a:ea typeface="Noto Sans CJK TC"/>
              </a:rPr>
              <a:t>少問同事、少查論壇，改用互動式提問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343400"/>
          </a:xfrm>
          <a:prstGeom prst="roundRect">
            <a:avLst>
              <a:gd name="adj" fmla="val 45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9377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700" b="1">
                <a:solidFill>
                  <a:srgbClr val="0F6E6E"/>
                </a:solidFill>
                <a:latin typeface="Noto Sans CJK TC"/>
                <a:ea typeface="Noto Sans CJK TC"/>
              </a:rPr>
              <a:t>A10 觀察到的轉變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700"/>
              </a:spcBef>
              <a:spcAft>
                <a:spcPts val="400"/>
              </a:spcAft>
              <a:buChar char="▸"/>
            </a:pPr>
            <a:r>
              <a:rPr sz="1400" b="0">
                <a:solidFill>
                  <a:srgbClr val="1E2B2B"/>
                </a:solidFill>
                <a:latin typeface="Noto Sans CJK TC"/>
                <a:ea typeface="Noto Sans CJK TC"/>
              </a:rPr>
              <a:t>GenAI 降低對論壇（Stack Overflow）、部落格的依賴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700"/>
              </a:spcBef>
              <a:spcAft>
                <a:spcPts val="400"/>
              </a:spcAft>
              <a:buChar char="▸"/>
            </a:pPr>
            <a:r>
              <a:rPr sz="1400" b="0">
                <a:solidFill>
                  <a:srgbClr val="1E2B2B"/>
                </a:solidFill>
                <a:latin typeface="Noto Sans CJK TC"/>
                <a:ea typeface="Noto Sans CJK TC"/>
              </a:rPr>
              <a:t>也降低「問同事」的頻率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700"/>
              </a:spcBef>
              <a:spcAft>
                <a:spcPts val="400"/>
              </a:spcAft>
              <a:buChar char="▸"/>
            </a:pPr>
            <a:r>
              <a:rPr sz="1400" b="0">
                <a:solidFill>
                  <a:srgbClr val="1E2B2B"/>
                </a:solidFill>
                <a:latin typeface="Noto Sans CJK TC"/>
                <a:ea typeface="Noto Sans CJK TC"/>
              </a:rPr>
              <a:t>因為 AI 能快速給解、免去查多個來源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700"/>
              </a:spcBef>
              <a:spcAft>
                <a:spcPts val="400"/>
              </a:spcAft>
              <a:buChar char="▸"/>
            </a:pPr>
            <a:r>
              <a:rPr sz="1400" b="0">
                <a:solidFill>
                  <a:srgbClr val="1E2B2B"/>
                </a:solidFill>
                <a:latin typeface="Noto Sans CJK TC"/>
                <a:ea typeface="Noto Sans CJK TC"/>
              </a:rPr>
              <a:t>工程師靠「互動式重新表述問題」逼近答案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700"/>
              </a:spcBef>
              <a:spcAft>
                <a:spcPts val="400"/>
              </a:spcAft>
              <a:buChar char="▸"/>
            </a:pPr>
            <a:r>
              <a:rPr sz="1400" b="0">
                <a:solidFill>
                  <a:srgbClr val="1E2B2B"/>
                </a:solidFill>
                <a:latin typeface="Noto Sans CJK TC"/>
                <a:ea typeface="Noto Sans CJK TC"/>
              </a:rPr>
              <a:t>但對罕見、特定問題，AI 較不可靠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486400" cy="4343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700" b="1">
                <a:solidFill>
                  <a:srgbClr val="0F6E6E"/>
                </a:solidFill>
                <a:latin typeface="Noto Sans CJK TC"/>
                <a:ea typeface="Noto Sans CJK TC"/>
              </a:rPr>
              <a:t>接到我的研究設計</a:t>
            </a:r>
          </a:p>
          <a:p>
            <a:pPr algn="l">
              <a:buClr>
                <a:srgbClr val="1A8C8C"/>
              </a:buClr>
              <a:lnSpc>
                <a:spcPct val="112000"/>
              </a:lnSpc>
              <a:spcBef>
                <a:spcPts val="700"/>
              </a:spcBef>
              <a:spcAft>
                <a:spcPts val="400"/>
              </a:spcAft>
              <a:buChar char="▸"/>
            </a:pPr>
            <a:r>
              <a:rPr sz="1350" b="1">
                <a:solidFill>
                  <a:srgbClr val="1E2B2B"/>
                </a:solidFill>
                <a:latin typeface="Noto Sans CJK TC"/>
                <a:ea typeface="Noto Sans CJK TC"/>
              </a:rPr>
              <a:t>「改用 AI 查、少查傳統來源」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1A8C8C"/>
                </a:solidFill>
                <a:latin typeface="Noto Sans CJK TC"/>
                <a:ea typeface="Noto Sans CJK TC"/>
              </a:rPr>
              <a:t>→ 我的實驗組（語意向量）vs 對照組（關鍵字搜尋）</a:t>
            </a:r>
          </a:p>
          <a:p>
            <a:pPr algn="l">
              <a:buClr>
                <a:srgbClr val="1A8C8C"/>
              </a:buClr>
              <a:lnSpc>
                <a:spcPct val="112000"/>
              </a:lnSpc>
              <a:spcBef>
                <a:spcPts val="700"/>
              </a:spcBef>
              <a:spcAft>
                <a:spcPts val="400"/>
              </a:spcAft>
              <a:buChar char="▸"/>
            </a:pPr>
            <a:r>
              <a:rPr sz="1350" b="1">
                <a:solidFill>
                  <a:srgbClr val="1E2B2B"/>
                </a:solidFill>
                <a:latin typeface="Noto Sans CJK TC"/>
                <a:ea typeface="Noto Sans CJK TC"/>
              </a:rPr>
              <a:t>「互動式重新表述問題」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1A8C8C"/>
                </a:solidFill>
                <a:latin typeface="Noto Sans CJK TC"/>
                <a:ea typeface="Noto Sans CJK TC"/>
              </a:rPr>
              <a:t>→ 我的語意改寫題（同義、換句話問）</a:t>
            </a:r>
          </a:p>
          <a:p>
            <a:pPr algn="l">
              <a:buClr>
                <a:srgbClr val="1A8C8C"/>
              </a:buClr>
              <a:lnSpc>
                <a:spcPct val="112000"/>
              </a:lnSpc>
              <a:spcBef>
                <a:spcPts val="700"/>
              </a:spcBef>
              <a:spcAft>
                <a:spcPts val="400"/>
              </a:spcAft>
              <a:buChar char="▸"/>
            </a:pPr>
            <a:r>
              <a:rPr sz="1350" b="1">
                <a:solidFill>
                  <a:srgbClr val="1E2B2B"/>
                </a:solidFill>
                <a:latin typeface="Noto Sans CJK TC"/>
                <a:ea typeface="Noto Sans CJK TC"/>
              </a:rPr>
              <a:t>「對特定問題較不可靠」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1A8C8C"/>
                </a:solidFill>
                <a:latin typeface="Noto Sans CJK TC"/>
                <a:ea typeface="Noto Sans CJK TC"/>
              </a:rPr>
              <a:t>→ 我要量的答案正確率、來源命中率</a:t>
            </a:r>
          </a:p>
          <a:p>
            <a:pPr algn="l">
              <a:buClr>
                <a:srgbClr val="1A8C8C"/>
              </a:buClr>
              <a:lnSpc>
                <a:spcPct val="112000"/>
              </a:lnSpc>
              <a:spcBef>
                <a:spcPts val="700"/>
              </a:spcBef>
              <a:spcAft>
                <a:spcPts val="400"/>
              </a:spcAft>
              <a:buChar char="▸"/>
            </a:pPr>
            <a:r>
              <a:rPr sz="1350" b="1">
                <a:solidFill>
                  <a:srgbClr val="1E2B2B"/>
                </a:solidFill>
                <a:latin typeface="Noto Sans CJK TC"/>
                <a:ea typeface="Noto Sans CJK TC"/>
              </a:rPr>
              <a:t>「快速給解、免查多源」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1A8C8C"/>
                </a:solidFill>
                <a:latin typeface="Noto Sans CJK TC"/>
                <a:ea typeface="Noto Sans CJK TC"/>
              </a:rPr>
              <a:t>→ 我要量的查詢時間、查詢次數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AV8D｜A10 研讀　</a:t>
            </a: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GenAI與知識管理：軟體開發實務的洞察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Calibri"/>
                <a:ea typeface="Noto Sans CJK TC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1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C9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0F6E6E"/>
                </a:solidFill>
                <a:latin typeface="Noto Sans CJK TC"/>
                <a:ea typeface="Noto Sans CJK TC"/>
              </a:rPr>
              <a:t>外化與可靠性：呼應我守的那條線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7E8F8D"/>
                </a:solidFill>
                <a:latin typeface="Noto Sans CJK TC"/>
                <a:ea typeface="Noto Sans CJK TC"/>
              </a:rPr>
              <a:t>AI 處理外化與被動查詢，內化與判斷留給人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343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9377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700" b="1">
                <a:solidFill>
                  <a:srgbClr val="0F6E6E"/>
                </a:solidFill>
                <a:latin typeface="Noto Sans CJK TC"/>
                <a:ea typeface="Noto Sans CJK TC"/>
              </a:rPr>
              <a:t>A10 觸及的外化議題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1E2B2B"/>
                </a:solidFill>
                <a:latin typeface="Noto Sans CJK TC"/>
                <a:ea typeface="Noto Sans CJK TC"/>
              </a:rPr>
              <a:t>Alavi 六大風險中，第5條：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50" b="1">
                <a:solidFill>
                  <a:srgbClr val="1A8C8C"/>
                </a:solidFill>
                <a:latin typeface="Noto Sans CJK TC"/>
                <a:ea typeface="Noto Sans CJK TC"/>
              </a:rPr>
              <a:t>「員工可能不再投入於知識的外化」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har char="▸"/>
            </a:pPr>
            <a:r>
              <a:rPr sz="1350" b="0">
                <a:solidFill>
                  <a:srgbClr val="1E2B2B"/>
                </a:solidFill>
                <a:latin typeface="Noto Sans CJK TC"/>
                <a:ea typeface="Noto Sans CJK TC"/>
              </a:rPr>
              <a:t>第4條：員工可能接受 AI 知識卻不內化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350" b="0">
                <a:solidFill>
                  <a:srgbClr val="1E2B2B"/>
                </a:solidFill>
                <a:latin typeface="Noto Sans CJK TC"/>
                <a:ea typeface="Noto Sans CJK TC"/>
              </a:rPr>
              <a:t>結論：AI 生成的是「新型知識」，要持續驗證、不可被動全收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350" b="0">
                <a:solidFill>
                  <a:srgbClr val="1E2B2B"/>
                </a:solidFill>
                <a:latin typeface="Noto Sans CJK TC"/>
                <a:ea typeface="Noto Sans CJK TC"/>
              </a:rPr>
              <a:t>提示工程被視為「新的知識創造形式」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486400" cy="4343400"/>
          </a:xfrm>
          <a:prstGeom prst="roundRect">
            <a:avLst>
              <a:gd name="adj" fmla="val 45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700" b="1">
                <a:solidFill>
                  <a:srgbClr val="0F6E6E"/>
                </a:solidFill>
                <a:latin typeface="Noto Sans CJK TC"/>
                <a:ea typeface="Noto Sans CJK TC"/>
              </a:rPr>
              <a:t>我「守乾淨」的研究主張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1E2B2B"/>
                </a:solidFill>
                <a:latin typeface="Noto Sans CJK TC"/>
                <a:ea typeface="Noto Sans CJK TC"/>
              </a:rPr>
              <a:t>我的研究只測「外化文件能不能被正確檢索」，不測傳承成功。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A8C8C"/>
                </a:solidFill>
                <a:latin typeface="Noto Sans CJK TC"/>
                <a:ea typeface="Noto Sans CJK TC"/>
              </a:rPr>
              <a:t>A10 印證了我守線的理由：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350" b="0">
                <a:solidFill>
                  <a:srgbClr val="1E2B2B"/>
                </a:solidFill>
                <a:latin typeface="Noto Sans CJK TC"/>
                <a:ea typeface="Noto Sans CJK TC"/>
              </a:rPr>
              <a:t>內化與判斷是人的事，AI 不該越界代勞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350" b="0">
                <a:solidFill>
                  <a:srgbClr val="1E2B2B"/>
                </a:solidFill>
                <a:latin typeface="Noto Sans CJK TC"/>
                <a:ea typeface="Noto Sans CJK TC"/>
              </a:rPr>
              <a:t>AI 負責外化與被動查詢，人負責驗證與吸收</a:t>
            </a:r>
          </a:p>
          <a:p>
            <a:pPr algn="l">
              <a:buClr>
                <a:srgbClr val="1A8C8C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350" b="0">
                <a:solidFill>
                  <a:srgbClr val="1E2B2B"/>
                </a:solidFill>
                <a:latin typeface="Noto Sans CJK TC"/>
                <a:ea typeface="Noto Sans CJK TC"/>
              </a:rPr>
              <a:t>這條線守乾淨，研究主張才不會糊掉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AV8D｜A10 研讀　</a:t>
            </a: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GenAI與知識管理：軟體開發實務的洞察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Calibri"/>
                <a:ea typeface="Noto Sans CJK TC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1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C9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C9E4E1"/>
                </a:solidFill>
                <a:latin typeface="Noto Sans CJK TC"/>
                <a:ea typeface="Noto Sans CJK TC"/>
              </a:rPr>
              <a:t>回到我的研究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Noto Sans CJK TC"/>
                <a:ea typeface="Noto Sans CJK TC"/>
              </a:rPr>
              <a:t>A10 是「人類視角」面，補上三角的第三個角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593592" cy="3566160"/>
          </a:xfrm>
          <a:prstGeom prst="roundRect">
            <a:avLst>
              <a:gd name="adj" fmla="val 4500"/>
            </a:avLst>
          </a:prstGeom>
          <a:solidFill>
            <a:srgbClr val="14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286000"/>
            <a:ext cx="164592" cy="164592"/>
          </a:xfrm>
          <a:prstGeom prst="ellipse">
            <a:avLst/>
          </a:prstGeom>
          <a:solidFill>
            <a:srgbClr val="C9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800" b="1">
                <a:solidFill>
                  <a:srgbClr val="C9E4E1"/>
                </a:solidFill>
                <a:latin typeface="Noto Sans CJK TC"/>
                <a:ea typeface="Noto Sans CJK TC"/>
              </a:rPr>
              <a:t>現象基礎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Sans CJK TC"/>
                <a:ea typeface="Noto Sans CJK TC"/>
              </a:rPr>
              <a:t>真人工程師已在「改問AI、少查傳統來源」，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Sans CJK TC"/>
                <a:ea typeface="Noto Sans CJK TC"/>
              </a:rPr>
              <a:t>我的「語意向量 vs 關鍵字」不是假設，是現實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011680"/>
            <a:ext cx="3593592" cy="3566160"/>
          </a:xfrm>
          <a:prstGeom prst="roundRect">
            <a:avLst>
              <a:gd name="adj" fmla="val 4500"/>
            </a:avLst>
          </a:prstGeom>
          <a:solidFill>
            <a:srgbClr val="14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36008" y="2286000"/>
            <a:ext cx="164592" cy="164592"/>
          </a:xfrm>
          <a:prstGeom prst="ellipse">
            <a:avLst/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69748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800" b="1">
                <a:solidFill>
                  <a:srgbClr val="C9E4E1"/>
                </a:solidFill>
                <a:latin typeface="Noto Sans CJK TC"/>
                <a:ea typeface="Noto Sans CJK TC"/>
              </a:rPr>
              <a:t>外化連結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Sans CJK TC"/>
                <a:ea typeface="Noto Sans CJK TC"/>
              </a:rPr>
              <a:t>它觸及知識外化與內化風險，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Sans CJK TC"/>
                <a:ea typeface="Noto Sans CJK TC"/>
              </a:rPr>
              <a:t>印證我守的線：AI 處理外化、人管內化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011680"/>
            <a:ext cx="3593592" cy="3566160"/>
          </a:xfrm>
          <a:prstGeom prst="roundRect">
            <a:avLst>
              <a:gd name="adj" fmla="val 4500"/>
            </a:avLst>
          </a:prstGeom>
          <a:solidFill>
            <a:srgbClr val="14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57616" y="2286000"/>
            <a:ext cx="164592" cy="164592"/>
          </a:xfrm>
          <a:prstGeom prst="ellipse">
            <a:avLst/>
          </a:prstGeom>
          <a:solidFill>
            <a:srgbClr val="C9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69748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800" b="1">
                <a:solidFill>
                  <a:srgbClr val="C9E4E1"/>
                </a:solidFill>
                <a:latin typeface="Noto Sans CJK TC"/>
                <a:ea typeface="Noto Sans CJK TC"/>
              </a:rPr>
              <a:t>方法互補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Sans CJK TC"/>
                <a:ea typeface="Noto Sans CJK TC"/>
              </a:rPr>
              <a:t>它質化給洞察、給現象，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Sans CJK TC"/>
                <a:ea typeface="Noto Sans CJK TC"/>
              </a:rPr>
              <a:t>我量化給可測量的檢索成效數字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C99A4E"/>
                </a:solidFill>
                <a:latin typeface="Noto Sans CJK TC"/>
                <a:ea typeface="Noto Sans CJK TC"/>
              </a:rPr>
              <a:t>三角互補：</a:t>
            </a:r>
            <a:r>
              <a:rPr sz="1500" b="0">
                <a:solidFill>
                  <a:srgbClr val="FFFFFF"/>
                </a:solidFill>
                <a:latin typeface="Noto Sans CJK TC"/>
                <a:ea typeface="Noto Sans CJK TC"/>
              </a:rPr>
              <a:t>A09 給技術面（語意向量是主流）、A10 給人類面（行為正在轉變）、我給量化面（成效到底差多少）。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1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C9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0F6E6E"/>
                </a:solidFill>
                <a:latin typeface="Noto Sans CJK TC"/>
                <a:ea typeface="Noto Sans CJK TC"/>
              </a:rPr>
              <a:t>出處與引用資訊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7E8F8D"/>
                </a:solidFill>
                <a:latin typeface="Noto Sans CJK TC"/>
                <a:ea typeface="Noto Sans CJK TC"/>
              </a:rPr>
              <a:t>可直接抄進參考文獻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2286000"/>
          </a:xfrm>
          <a:prstGeom prst="roundRect">
            <a:avLst>
              <a:gd name="adj" fmla="val 45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4241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600"/>
              </a:spcAft>
            </a:pPr>
            <a:r>
              <a:rPr sz="1400" b="1">
                <a:solidFill>
                  <a:srgbClr val="0F6E6E"/>
                </a:solidFill>
                <a:latin typeface="Noto Sans CJK TC"/>
                <a:ea typeface="Noto Sans CJK TC"/>
              </a:rPr>
              <a:t>APA格式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400"/>
              </a:spcAft>
            </a:pPr>
            <a:r>
              <a:rPr sz="1450" b="0">
                <a:solidFill>
                  <a:srgbClr val="1E2B2B"/>
                </a:solidFill>
                <a:latin typeface="Calibri"/>
                <a:ea typeface="Noto Sans CJK TC"/>
              </a:rPr>
              <a:t>Kirchner, K., Bolisani, E., Cherkos Kassaneh, T., Scarso, E., &amp; Taraghi, N. (2025). Generative AI meets knowledge management: Insights from software development practices. </a:t>
            </a:r>
            <a:r>
              <a:rPr sz="1450" b="1">
                <a:solidFill>
                  <a:srgbClr val="1E2B2B"/>
                </a:solidFill>
                <a:latin typeface="Calibri"/>
                <a:ea typeface="Noto Sans CJK TC"/>
              </a:rPr>
              <a:t>Knowledge and Process Management, 32</a:t>
            </a:r>
            <a:r>
              <a:rPr sz="1450" b="0">
                <a:solidFill>
                  <a:srgbClr val="1E2B2B"/>
                </a:solidFill>
                <a:latin typeface="Calibri"/>
                <a:ea typeface="Noto Sans CJK TC"/>
              </a:rPr>
              <a:t>, 223–235.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1A8C8C"/>
                </a:solidFill>
                <a:latin typeface="Calibri"/>
                <a:ea typeface="Noto Sans CJK TC"/>
              </a:rPr>
              <a:t>https://doi.org/10.1002/kpm.70004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2679192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343400"/>
            <a:ext cx="23317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300"/>
              </a:spcAft>
            </a:pPr>
            <a:r>
              <a:rPr sz="1200" b="1">
                <a:solidFill>
                  <a:srgbClr val="7E8F8D"/>
                </a:solidFill>
                <a:latin typeface="Noto Sans CJK TC"/>
                <a:ea typeface="Noto Sans CJK TC"/>
              </a:rPr>
              <a:t>期刊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0F6E6E"/>
                </a:solidFill>
                <a:latin typeface="Noto Sans CJK TC"/>
                <a:ea typeface="Noto Sans CJK TC"/>
              </a:rPr>
              <a:t>Knowl. &amp; Process Mgmt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4160520"/>
            <a:ext cx="2679192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4343400"/>
            <a:ext cx="23317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300"/>
              </a:spcAft>
            </a:pPr>
            <a:r>
              <a:rPr sz="1200" b="1">
                <a:solidFill>
                  <a:srgbClr val="7E8F8D"/>
                </a:solidFill>
                <a:latin typeface="Noto Sans CJK TC"/>
                <a:ea typeface="Noto Sans CJK TC"/>
              </a:rPr>
              <a:t>年份卷期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0F6E6E"/>
                </a:solidFill>
                <a:latin typeface="Noto Sans CJK TC"/>
                <a:ea typeface="Noto Sans CJK TC"/>
              </a:rPr>
              <a:t>2025, 32, 223–235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4160520"/>
            <a:ext cx="2679192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3" y="4343400"/>
            <a:ext cx="23317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300"/>
              </a:spcAft>
            </a:pPr>
            <a:r>
              <a:rPr sz="1200" b="1">
                <a:solidFill>
                  <a:srgbClr val="7E8F8D"/>
                </a:solidFill>
                <a:latin typeface="Noto Sans CJK TC"/>
                <a:ea typeface="Noto Sans CJK TC"/>
              </a:rPr>
              <a:t>取用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0F6E6E"/>
                </a:solidFill>
                <a:latin typeface="Noto Sans CJK TC"/>
                <a:ea typeface="Noto Sans CJK TC"/>
              </a:rPr>
              <a:t>開放（CC BY-NC-ND）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4544" y="4160520"/>
            <a:ext cx="2679192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4343400"/>
            <a:ext cx="23317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300"/>
              </a:spcAft>
            </a:pPr>
            <a:r>
              <a:rPr sz="1200" b="1">
                <a:solidFill>
                  <a:srgbClr val="7E8F8D"/>
                </a:solidFill>
                <a:latin typeface="Noto Sans CJK TC"/>
                <a:ea typeface="Noto Sans CJK TC"/>
              </a:rPr>
              <a:t>類型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0F6E6E"/>
                </a:solidFill>
                <a:latin typeface="Noto Sans CJK TC"/>
                <a:ea typeface="Noto Sans CJK TC"/>
              </a:rPr>
              <a:t>質化訪談研究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71500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0F6E6E"/>
                </a:solidFill>
                <a:latin typeface="Noto Sans CJK TC"/>
                <a:ea typeface="Noto Sans CJK TC"/>
              </a:rPr>
              <a:t>研讀範圍　</a:t>
            </a:r>
            <a:r>
              <a:rPr sz="1300" b="0">
                <a:solidFill>
                  <a:srgbClr val="1E2B2B"/>
                </a:solidFill>
                <a:latin typeface="Noto Sans CJK TC"/>
                <a:ea typeface="Noto Sans CJK TC"/>
              </a:rPr>
              <a:t>涵蓋摘要、引言、背景（2.1–2.3）、方法、結果五主題、討論、結論；2.1.2節他人研究回顧與表2受訪引述以重點濃縮處理，均於中英對照文件中明註。期刊分級建議以SCImago（SJR）查證後填入。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AV8D｜A10 研讀　</a:t>
            </a:r>
            <a:r>
              <a:rPr sz="900" b="0">
                <a:solidFill>
                  <a:srgbClr val="7E8F8D"/>
                </a:solidFill>
                <a:latin typeface="Noto Sans CJK TC"/>
                <a:ea typeface="Noto Sans CJK TC"/>
              </a:rPr>
              <a:t>GenAI與知識管理：軟體開發實務的洞察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7E8F8D"/>
                </a:solidFill>
                <a:latin typeface="Calibri"/>
                <a:ea typeface="Noto Sans CJK TC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1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C9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C9E4E1"/>
                </a:solidFill>
                <a:latin typeface="Noto Sans CJK TC"/>
                <a:ea typeface="Noto Sans CJK TC"/>
              </a:rPr>
              <a:t>完整中英對照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Noto Sans CJK TC"/>
                <a:ea typeface="Noto Sans CJK TC"/>
              </a:rPr>
              <a:t>逐段中英對照文件，掃碼或點連結看全文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3291840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7E8F8D"/>
                </a:solidFill>
                <a:latin typeface="Noto Sans CJK TC"/>
                <a:ea typeface="Noto Sans CJK TC"/>
              </a:rPr>
              <a:t>QR 待回填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7E8F8D"/>
                </a:solidFill>
                <a:latin typeface="Noto Sans CJK TC"/>
                <a:ea typeface="Noto Sans CJK TC"/>
              </a:rPr>
              <a:t>上傳Google Drive後補上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94560"/>
            <a:ext cx="6675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C9E4E1"/>
                </a:solidFill>
                <a:latin typeface="Noto Sans CJK TC"/>
                <a:ea typeface="Noto Sans CJK TC"/>
              </a:rPr>
              <a:t>三層備援，現場不怕出狀況</a:t>
            </a:r>
          </a:p>
          <a:p>
            <a:pPr algn="l">
              <a:buClr>
                <a:srgbClr val="CDA45C"/>
              </a:buCl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har char="▸"/>
            </a:pPr>
            <a:r>
              <a:rPr sz="1500" b="0">
                <a:solidFill>
                  <a:srgbClr val="FFFFFF"/>
                </a:solidFill>
                <a:latin typeface="Noto Sans CJK TC"/>
                <a:ea typeface="Noto Sans CJK TC"/>
              </a:rPr>
              <a:t>可點擊超連結（簡報播放時直接點）</a:t>
            </a:r>
          </a:p>
          <a:p>
            <a:pPr algn="l">
              <a:buClr>
                <a:srgbClr val="CDA45C"/>
              </a:buCl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har char="▸"/>
            </a:pPr>
            <a:r>
              <a:rPr sz="1500" b="0">
                <a:solidFill>
                  <a:srgbClr val="FFFFFF"/>
                </a:solidFill>
                <a:latin typeface="Noto Sans CJK TC"/>
                <a:ea typeface="Noto Sans CJK TC"/>
              </a:rPr>
              <a:t>完整網址文字（連結點不開可手打）</a:t>
            </a:r>
          </a:p>
          <a:p>
            <a:pPr algn="l">
              <a:buClr>
                <a:srgbClr val="CDA45C"/>
              </a:buCl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har char="▸"/>
            </a:pPr>
            <a:r>
              <a:rPr sz="1500" b="0">
                <a:solidFill>
                  <a:srgbClr val="FFFFFF"/>
                </a:solidFill>
                <a:latin typeface="Noto Sans CJK TC"/>
                <a:ea typeface="Noto Sans CJK TC"/>
              </a:rPr>
              <a:t>QRcode（手機掃，指向同一份文件）</a:t>
            </a:r>
          </a:p>
          <a:p>
            <a:pPr algn="l">
              <a:lnSpc>
                <a:spcPct val="120000"/>
              </a:lnSpc>
              <a:spcBef>
                <a:spcPts val="1600"/>
              </a:spcBef>
              <a:spcAft>
                <a:spcPts val="400"/>
              </a:spcAft>
            </a:pPr>
            <a:r>
              <a:rPr sz="1400" b="1">
                <a:solidFill>
                  <a:srgbClr val="C99A4E"/>
                </a:solidFill>
                <a:latin typeface="Noto Sans CJK TC"/>
                <a:ea typeface="Noto Sans CJK TC"/>
              </a:rPr>
              <a:t>檔案　</a:t>
            </a:r>
            <a:r>
              <a:rPr sz="1400" b="0">
                <a:solidFill>
                  <a:srgbClr val="F6F3EC"/>
                </a:solidFill>
                <a:latin typeface="Noto Sans CJK TC"/>
                <a:ea typeface="Noto Sans CJK TC"/>
              </a:rPr>
              <a:t>A10中英對照.docx（逐段中英對照、含TOE圖與受訪者表、藍框譯文）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4406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99A4E"/>
                </a:solidFill>
                <a:latin typeface="Noto Sans CJK TC"/>
                <a:ea typeface="Noto Sans CJK TC"/>
              </a:rPr>
              <a:t>網址　</a:t>
            </a:r>
            <a:r>
              <a:rPr sz="1200" b="0">
                <a:solidFill>
                  <a:srgbClr val="F6F3EC"/>
                </a:solidFill>
                <a:latin typeface="Noto Sans CJK TC"/>
                <a:ea typeface="Noto Sans CJK TC"/>
              </a:rPr>
              <a:t>（請小D上傳Google Drive後，把分享連結貼回，我再生成QR並回填此頁）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